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alibri (MS) Bold" charset="1" panose="020F0702030404030204"/>
      <p:regular r:id="rId22"/>
    </p:embeddedFont>
    <p:embeddedFont>
      <p:font typeface="Calibri (MS)" charset="1" panose="020F0502020204030204"/>
      <p:regular r:id="rId23"/>
    </p:embeddedFont>
    <p:embeddedFont>
      <p:font typeface="Calibri (MS) Bold Italics" charset="1" panose="020F07020304040A0204"/>
      <p:regular r:id="rId24"/>
    </p:embeddedFont>
    <p:embeddedFont>
      <p:font typeface="Arial" charset="1" panose="020B0604020202020204"/>
      <p:regular r:id="rId25"/>
    </p:embeddedFont>
    <p:embeddedFont>
      <p:font typeface="Arial Bold" charset="1" panose="020B0704020202020204"/>
      <p:regular r:id="rId26"/>
    </p:embeddedFont>
    <p:embeddedFont>
      <p:font typeface="Times New Roman" charset="1" panose="020206030504050203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iamkk369/EcoGaurdMONITOR"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721" t="-1442" r="-721" b="0"/>
            </a:stretch>
          </a:blipFill>
        </p:spPr>
      </p:sp>
      <p:grpSp>
        <p:nvGrpSpPr>
          <p:cNvPr name="Group 3" id="3"/>
          <p:cNvGrpSpPr/>
          <p:nvPr/>
        </p:nvGrpSpPr>
        <p:grpSpPr>
          <a:xfrm rot="0">
            <a:off x="0" y="433441"/>
            <a:ext cx="11288986" cy="7373114"/>
            <a:chOff x="0" y="0"/>
            <a:chExt cx="15051981" cy="9830819"/>
          </a:xfrm>
        </p:grpSpPr>
        <p:sp>
          <p:nvSpPr>
            <p:cNvPr name="Freeform 4" id="4"/>
            <p:cNvSpPr/>
            <p:nvPr/>
          </p:nvSpPr>
          <p:spPr>
            <a:xfrm flipH="false" flipV="false" rot="0">
              <a:off x="0" y="0"/>
              <a:ext cx="15051980" cy="9830817"/>
            </a:xfrm>
            <a:custGeom>
              <a:avLst/>
              <a:gdLst/>
              <a:ahLst/>
              <a:cxnLst/>
              <a:rect r="r" b="b" t="t" l="l"/>
              <a:pathLst>
                <a:path h="9830817" w="15051980">
                  <a:moveTo>
                    <a:pt x="0" y="0"/>
                  </a:moveTo>
                  <a:lnTo>
                    <a:pt x="15051980" y="0"/>
                  </a:lnTo>
                  <a:lnTo>
                    <a:pt x="15051980" y="9830817"/>
                  </a:lnTo>
                  <a:lnTo>
                    <a:pt x="0" y="9830817"/>
                  </a:lnTo>
                  <a:close/>
                </a:path>
              </a:pathLst>
            </a:custGeom>
            <a:blipFill>
              <a:blip r:embed="rId3">
                <a:alphaModFix amt="0"/>
              </a:blip>
              <a:stretch>
                <a:fillRect l="0" t="-12666" r="-39723" b="29297"/>
              </a:stretch>
            </a:blipFill>
          </p:spPr>
        </p:sp>
        <p:sp>
          <p:nvSpPr>
            <p:cNvPr name="TextBox 5" id="5"/>
            <p:cNvSpPr txBox="true"/>
            <p:nvPr/>
          </p:nvSpPr>
          <p:spPr>
            <a:xfrm>
              <a:off x="0" y="-95250"/>
              <a:ext cx="15051981" cy="9926069"/>
            </a:xfrm>
            <a:prstGeom prst="rect">
              <a:avLst/>
            </a:prstGeom>
          </p:spPr>
          <p:txBody>
            <a:bodyPr anchor="b" rtlCol="false" tIns="0" lIns="0" bIns="0" rIns="0"/>
            <a:lstStyle/>
            <a:p>
              <a:pPr algn="ctr">
                <a:lnSpc>
                  <a:spcPts val="10692"/>
                </a:lnSpc>
              </a:pPr>
              <a:r>
                <a:rPr lang="en-US" sz="9900" b="true">
                  <a:solidFill>
                    <a:srgbClr val="000000"/>
                  </a:solidFill>
                  <a:latin typeface="Calibri (MS) Bold"/>
                  <a:ea typeface="Calibri (MS) Bold"/>
                  <a:cs typeface="Calibri (MS) Bold"/>
                  <a:sym typeface="Calibri (MS) Bold"/>
                </a:rPr>
                <a:t>IBM University Engagement Project Submission</a:t>
              </a:r>
            </a:p>
            <a:p>
              <a:pPr algn="ctr">
                <a:lnSpc>
                  <a:spcPts val="10476"/>
                </a:lnSpc>
              </a:pPr>
              <a:r>
                <a:rPr lang="en-US" sz="9700">
                  <a:solidFill>
                    <a:srgbClr val="7ED957"/>
                  </a:solidFill>
                  <a:latin typeface="Calibri (MS)"/>
                  <a:ea typeface="Calibri (MS)"/>
                  <a:cs typeface="Calibri (MS)"/>
                  <a:sym typeface="Calibri (MS)"/>
                </a:rPr>
                <a:t>EcoGuardAI</a:t>
              </a:r>
            </a:p>
            <a:p>
              <a:pPr algn="ctr">
                <a:lnSpc>
                  <a:spcPts val="10692"/>
                </a:lnSpc>
              </a:pPr>
            </a:p>
          </p:txBody>
        </p:sp>
      </p:grpSp>
      <p:sp>
        <p:nvSpPr>
          <p:cNvPr name="TextBox 6" id="6"/>
          <p:cNvSpPr txBox="true"/>
          <p:nvPr/>
        </p:nvSpPr>
        <p:spPr>
          <a:xfrm rot="0">
            <a:off x="1053068" y="6026631"/>
            <a:ext cx="9182849" cy="1531239"/>
          </a:xfrm>
          <a:prstGeom prst="rect">
            <a:avLst/>
          </a:prstGeom>
        </p:spPr>
        <p:txBody>
          <a:bodyPr anchor="t" rtlCol="false" tIns="0" lIns="0" bIns="0" rIns="0">
            <a:spAutoFit/>
          </a:bodyPr>
          <a:lstStyle/>
          <a:p>
            <a:pPr algn="ctr">
              <a:lnSpc>
                <a:spcPts val="3888"/>
              </a:lnSpc>
            </a:pPr>
            <a:r>
              <a:rPr lang="en-US" b="true" sz="3600" i="true">
                <a:solidFill>
                  <a:srgbClr val="888888"/>
                </a:solidFill>
                <a:latin typeface="Calibri (MS) Bold Italics"/>
                <a:ea typeface="Calibri (MS) Bold Italics"/>
                <a:cs typeface="Calibri (MS) Bold Italics"/>
                <a:sym typeface="Calibri (MS) Bold Italics"/>
              </a:rPr>
              <a:t>AI-Powered Environmental Monitoring and </a:t>
            </a:r>
          </a:p>
          <a:p>
            <a:pPr algn="ctr">
              <a:lnSpc>
                <a:spcPts val="3888"/>
              </a:lnSpc>
            </a:pPr>
            <a:r>
              <a:rPr lang="en-US" b="true" sz="3600" i="true">
                <a:solidFill>
                  <a:srgbClr val="888888"/>
                </a:solidFill>
                <a:latin typeface="Calibri (MS) Bold Italics"/>
                <a:ea typeface="Calibri (MS) Bold Italics"/>
                <a:cs typeface="Calibri (MS) Bold Italics"/>
                <a:sym typeface="Calibri (MS) Bold Italics"/>
              </a:rPr>
              <a:t>Risk Intelligence System</a:t>
            </a:r>
          </a:p>
          <a:p>
            <a:pPr algn="ctr">
              <a:lnSpc>
                <a:spcPts val="3888"/>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2030673" y="3616786"/>
          <a:ext cx="14058900" cy="5268324"/>
        </p:xfrm>
        <a:graphic>
          <a:graphicData uri="http://schemas.openxmlformats.org/drawingml/2006/table">
            <a:tbl>
              <a:tblPr/>
              <a:tblGrid>
                <a:gridCol w="2815635"/>
                <a:gridCol w="3468926"/>
                <a:gridCol w="4932778"/>
                <a:gridCol w="2841561"/>
              </a:tblGrid>
              <a:tr h="1212598">
                <a:tc>
                  <a:txBody>
                    <a:bodyPr anchor="t" rtlCol="false"/>
                    <a:lstStyle/>
                    <a:p>
                      <a:pPr algn="ctr">
                        <a:lnSpc>
                          <a:spcPts val="3359"/>
                        </a:lnSpc>
                        <a:defRPr/>
                      </a:pPr>
                      <a:r>
                        <a:rPr lang="en-US" sz="2799">
                          <a:solidFill>
                            <a:srgbClr val="000000"/>
                          </a:solidFill>
                          <a:latin typeface="Arial"/>
                          <a:ea typeface="Arial"/>
                          <a:cs typeface="Arial"/>
                          <a:sym typeface="Arial"/>
                        </a:rPr>
                        <a:t>Student Name</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359"/>
                        </a:lnSpc>
                        <a:defRPr/>
                      </a:pPr>
                      <a:r>
                        <a:rPr lang="en-US" sz="2799">
                          <a:solidFill>
                            <a:srgbClr val="000000"/>
                          </a:solidFill>
                          <a:latin typeface="Arial"/>
                          <a:ea typeface="Arial"/>
                          <a:cs typeface="Arial"/>
                          <a:sym typeface="Arial"/>
                        </a:rPr>
                        <a:t>Recent Passport Photo</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359"/>
                        </a:lnSpc>
                        <a:defRPr/>
                      </a:pPr>
                      <a:r>
                        <a:rPr lang="en-US" sz="2799">
                          <a:solidFill>
                            <a:srgbClr val="000000"/>
                          </a:solidFill>
                          <a:latin typeface="Arial"/>
                          <a:ea typeface="Arial"/>
                          <a:cs typeface="Arial"/>
                          <a:sym typeface="Arial"/>
                        </a:rPr>
                        <a:t>Email ID </a:t>
                      </a:r>
                      <a:endParaRPr lang="en-US" sz="1100"/>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c>
                  <a:txBody>
                    <a:bodyPr anchor="t" rtlCol="false"/>
                    <a:lstStyle/>
                    <a:p>
                      <a:pPr algn="ctr">
                        <a:lnSpc>
                          <a:spcPts val="3359"/>
                        </a:lnSpc>
                        <a:defRPr/>
                      </a:pPr>
                      <a:r>
                        <a:rPr lang="en-US" sz="2799">
                          <a:solidFill>
                            <a:srgbClr val="000000"/>
                          </a:solidFill>
                          <a:latin typeface="Arial"/>
                          <a:ea typeface="Arial"/>
                          <a:cs typeface="Arial"/>
                          <a:sym typeface="Arial"/>
                        </a:rPr>
                        <a:t>Mobile number</a:t>
                      </a:r>
                      <a:endParaRPr lang="en-US" sz="1100"/>
                    </a:p>
                    <a:p>
                      <a:pPr algn="ctr">
                        <a:lnSpc>
                          <a:spcPts val="3359"/>
                        </a:lnSpc>
                      </a:pPr>
                      <a:r>
                        <a:rPr lang="en-US" sz="2799">
                          <a:solidFill>
                            <a:srgbClr val="000000"/>
                          </a:solidFill>
                          <a:latin typeface="Arial"/>
                          <a:ea typeface="Arial"/>
                          <a:cs typeface="Arial"/>
                          <a:sym typeface="Arial"/>
                        </a:rPr>
                        <a:t>[WhatsApp] </a:t>
                      </a:r>
                    </a:p>
                  </a:txBody>
                  <a:tcPr marL="91450" marR="91450" marT="91450" marB="91450" anchor="ctr">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5B9BD5"/>
                    </a:solidFill>
                  </a:tcPr>
                </a:tc>
              </a:tr>
              <a:tr h="4055726">
                <a:tc>
                  <a:txBody>
                    <a:bodyPr anchor="t" rtlCol="false"/>
                    <a:lstStyle/>
                    <a:p>
                      <a:pPr algn="ctr">
                        <a:lnSpc>
                          <a:spcPts val="2799"/>
                        </a:lnSpc>
                        <a:defRPr/>
                      </a:pPr>
                      <a:endParaRPr lang="en-US" sz="1100"/>
                    </a:p>
                    <a:p>
                      <a:pPr algn="ctr">
                        <a:lnSpc>
                          <a:spcPts val="2799"/>
                        </a:lnSpc>
                      </a:pPr>
                    </a:p>
                    <a:p>
                      <a:pPr algn="ctr">
                        <a:lnSpc>
                          <a:spcPts val="3779"/>
                        </a:lnSpc>
                      </a:pPr>
                    </a:p>
                    <a:p>
                      <a:pPr algn="ctr">
                        <a:lnSpc>
                          <a:spcPts val="3779"/>
                        </a:lnSpc>
                      </a:pPr>
                      <a:r>
                        <a:rPr lang="en-US" sz="2699">
                          <a:solidFill>
                            <a:srgbClr val="000000"/>
                          </a:solidFill>
                          <a:latin typeface="Arial"/>
                          <a:ea typeface="Arial"/>
                          <a:cs typeface="Arial"/>
                          <a:sym typeface="Arial"/>
                        </a:rPr>
                        <a:t>KHILANKUMAR </a:t>
                      </a:r>
                    </a:p>
                    <a:p>
                      <a:pPr algn="ctr">
                        <a:lnSpc>
                          <a:spcPts val="3919"/>
                        </a:lnSpc>
                      </a:pPr>
                      <a:r>
                        <a:rPr lang="en-US" sz="2799">
                          <a:solidFill>
                            <a:srgbClr val="000000"/>
                          </a:solidFill>
                          <a:latin typeface="Arial"/>
                          <a:ea typeface="Arial"/>
                          <a:cs typeface="Arial"/>
                          <a:sym typeface="Arial"/>
                        </a:rPr>
                        <a:t>RAJPUT</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1679"/>
                        </a:lnSpc>
                        <a:defRPr/>
                      </a:pPr>
                      <a:endParaRPr lang="en-US" sz="1100"/>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919"/>
                        </a:lnSpc>
                        <a:defRPr/>
                      </a:pPr>
                      <a:endParaRPr lang="en-US" sz="1100"/>
                    </a:p>
                    <a:p>
                      <a:pPr algn="l">
                        <a:lnSpc>
                          <a:spcPts val="3919"/>
                        </a:lnSpc>
                      </a:pPr>
                    </a:p>
                    <a:p>
                      <a:pPr algn="l">
                        <a:lnSpc>
                          <a:spcPts val="3919"/>
                        </a:lnSpc>
                      </a:pPr>
                      <a:r>
                        <a:rPr lang="en-US" sz="2799">
                          <a:solidFill>
                            <a:srgbClr val="000000"/>
                          </a:solidFill>
                          <a:latin typeface="Arial"/>
                          <a:ea typeface="Arial"/>
                          <a:cs typeface="Arial"/>
                          <a:sym typeface="Arial"/>
                        </a:rPr>
                        <a:t>tonystark882006@gmail.com</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c>
                  <a:txBody>
                    <a:bodyPr anchor="t" rtlCol="false"/>
                    <a:lstStyle/>
                    <a:p>
                      <a:pPr algn="l">
                        <a:lnSpc>
                          <a:spcPts val="3919"/>
                        </a:lnSpc>
                        <a:defRPr/>
                      </a:pPr>
                      <a:endParaRPr lang="en-US" sz="1100"/>
                    </a:p>
                    <a:p>
                      <a:pPr algn="l">
                        <a:lnSpc>
                          <a:spcPts val="3919"/>
                        </a:lnSpc>
                      </a:pPr>
                    </a:p>
                    <a:p>
                      <a:pPr algn="l">
                        <a:lnSpc>
                          <a:spcPts val="3919"/>
                        </a:lnSpc>
                      </a:pPr>
                      <a:r>
                        <a:rPr lang="en-US" sz="2799">
                          <a:solidFill>
                            <a:srgbClr val="000000"/>
                          </a:solidFill>
                          <a:latin typeface="Arial"/>
                          <a:ea typeface="Arial"/>
                          <a:cs typeface="Arial"/>
                          <a:sym typeface="Arial"/>
                        </a:rPr>
                        <a:t>  96013 17824</a:t>
                      </a:r>
                    </a:p>
                  </a:txBody>
                  <a:tcPr marL="91450" marR="91450" marT="91450" marB="9145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D0DEEF"/>
                    </a:solidFill>
                  </a:tcPr>
                </a:tc>
              </a:tr>
            </a:tbl>
          </a:graphicData>
        </a:graphic>
      </p:graphicFrame>
      <p:grpSp>
        <p:nvGrpSpPr>
          <p:cNvPr name="Group 3" id="3"/>
          <p:cNvGrpSpPr/>
          <p:nvPr/>
        </p:nvGrpSpPr>
        <p:grpSpPr>
          <a:xfrm rot="0">
            <a:off x="5107993" y="5143500"/>
            <a:ext cx="2895364" cy="3338454"/>
            <a:chOff x="0" y="0"/>
            <a:chExt cx="1525003" cy="1758381"/>
          </a:xfrm>
        </p:grpSpPr>
        <p:sp>
          <p:nvSpPr>
            <p:cNvPr name="Freeform 4" id="4"/>
            <p:cNvSpPr/>
            <p:nvPr/>
          </p:nvSpPr>
          <p:spPr>
            <a:xfrm flipH="false" flipV="false" rot="0">
              <a:off x="0" y="0"/>
              <a:ext cx="1525016" cy="1758394"/>
            </a:xfrm>
            <a:custGeom>
              <a:avLst/>
              <a:gdLst/>
              <a:ahLst/>
              <a:cxnLst/>
              <a:rect r="r" b="b" t="t" l="l"/>
              <a:pathLst>
                <a:path h="1758394" w="1525016">
                  <a:moveTo>
                    <a:pt x="0" y="0"/>
                  </a:moveTo>
                  <a:lnTo>
                    <a:pt x="1525016" y="0"/>
                  </a:lnTo>
                  <a:lnTo>
                    <a:pt x="1525016" y="1758394"/>
                  </a:lnTo>
                  <a:lnTo>
                    <a:pt x="0" y="1758394"/>
                  </a:lnTo>
                  <a:lnTo>
                    <a:pt x="0" y="0"/>
                  </a:lnTo>
                  <a:close/>
                </a:path>
              </a:pathLst>
            </a:custGeom>
            <a:blipFill>
              <a:blip r:embed="rId2"/>
              <a:stretch>
                <a:fillRect l="-6656" t="0" r="-357" b="-27737"/>
              </a:stretch>
            </a:blipFill>
          </p:spPr>
        </p:sp>
      </p:grpSp>
      <p:sp>
        <p:nvSpPr>
          <p:cNvPr name="TextBox 5" id="5"/>
          <p:cNvSpPr txBox="true"/>
          <p:nvPr/>
        </p:nvSpPr>
        <p:spPr>
          <a:xfrm rot="0">
            <a:off x="1900685" y="2216654"/>
            <a:ext cx="15237504"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Domain of  Project –</a:t>
            </a:r>
            <a:r>
              <a:rPr lang="en-US" sz="3600" b="true">
                <a:solidFill>
                  <a:srgbClr val="C1FF72"/>
                </a:solidFill>
                <a:latin typeface="Arial Bold"/>
                <a:ea typeface="Arial Bold"/>
                <a:cs typeface="Arial Bold"/>
                <a:sym typeface="Arial Bold"/>
              </a:rPr>
              <a:t> </a:t>
            </a:r>
            <a:r>
              <a:rPr lang="en-US" sz="3600" b="true">
                <a:solidFill>
                  <a:srgbClr val="7ED957"/>
                </a:solidFill>
                <a:latin typeface="Arial Bold"/>
                <a:ea typeface="Arial Bold"/>
                <a:cs typeface="Arial Bold"/>
                <a:sym typeface="Arial Bold"/>
              </a:rPr>
              <a:t>Environment / Sustainability / AI</a:t>
            </a:r>
          </a:p>
        </p:txBody>
      </p:sp>
      <p:sp>
        <p:nvSpPr>
          <p:cNvPr name="TextBox 6" id="6"/>
          <p:cNvSpPr txBox="true"/>
          <p:nvPr/>
        </p:nvSpPr>
        <p:spPr>
          <a:xfrm rot="0">
            <a:off x="1900685" y="1297259"/>
            <a:ext cx="14188888" cy="571500"/>
          </a:xfrm>
          <a:prstGeom prst="rect">
            <a:avLst/>
          </a:prstGeom>
        </p:spPr>
        <p:txBody>
          <a:bodyPr anchor="t" rtlCol="false" tIns="0" lIns="0" bIns="0" rIns="0">
            <a:spAutoFit/>
          </a:bodyPr>
          <a:lstStyle/>
          <a:p>
            <a:pPr algn="l">
              <a:lnSpc>
                <a:spcPts val="4320"/>
              </a:lnSpc>
            </a:pPr>
            <a:r>
              <a:rPr lang="en-US" sz="3600" b="true">
                <a:solidFill>
                  <a:srgbClr val="000000"/>
                </a:solidFill>
                <a:latin typeface="Arial Bold"/>
                <a:ea typeface="Arial Bold"/>
                <a:cs typeface="Arial Bold"/>
                <a:sym typeface="Arial Bold"/>
              </a:rPr>
              <a:t>Project Tile – </a:t>
            </a:r>
            <a:r>
              <a:rPr lang="en-US" sz="3600" b="true">
                <a:solidFill>
                  <a:srgbClr val="7ED957"/>
                </a:solidFill>
                <a:latin typeface="Arial Bold"/>
                <a:ea typeface="Arial Bold"/>
                <a:cs typeface="Arial Bold"/>
                <a:sym typeface="Arial Bold"/>
              </a:rPr>
              <a:t>EcoGuardAI</a:t>
            </a:r>
          </a:p>
        </p:txBody>
      </p:sp>
    </p:spTree>
  </p:cSld>
  <p:clrMapOvr>
    <a:masterClrMapping/>
  </p:clrMapOvr>
  <p:transition spd="slow">
    <p:push dir="d"/>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43453" y="301308"/>
            <a:ext cx="17401095" cy="9544050"/>
          </a:xfrm>
          <a:prstGeom prst="rect">
            <a:avLst/>
          </a:prstGeom>
        </p:spPr>
        <p:txBody>
          <a:bodyPr anchor="t" rtlCol="false" tIns="0" lIns="0" bIns="0" rIns="0">
            <a:spAutoFit/>
          </a:bodyPr>
          <a:lstStyle/>
          <a:p>
            <a:pPr algn="just">
              <a:lnSpc>
                <a:spcPts val="2799"/>
              </a:lnSpc>
            </a:pPr>
            <a:r>
              <a:rPr lang="en-US" b="true" sz="2799" spc="2">
                <a:solidFill>
                  <a:srgbClr val="000000"/>
                </a:solidFill>
                <a:latin typeface="Arial Bold"/>
                <a:ea typeface="Arial Bold"/>
                <a:cs typeface="Arial Bold"/>
                <a:sym typeface="Arial Bold"/>
              </a:rPr>
              <a:t>Problem Statement</a:t>
            </a:r>
          </a:p>
          <a:p>
            <a:pPr algn="just">
              <a:lnSpc>
                <a:spcPts val="2799"/>
              </a:lnSpc>
            </a:pPr>
          </a:p>
          <a:p>
            <a:pPr algn="just">
              <a:lnSpc>
                <a:spcPts val="2799"/>
              </a:lnSpc>
            </a:pPr>
            <a:r>
              <a:rPr lang="en-US" b="true" sz="2799" spc="4">
                <a:solidFill>
                  <a:srgbClr val="000000"/>
                </a:solidFill>
                <a:latin typeface="Arial Bold"/>
                <a:ea typeface="Arial Bold"/>
                <a:cs typeface="Arial Bold"/>
                <a:sym typeface="Arial Bold"/>
              </a:rPr>
              <a:t>The Challenge: </a:t>
            </a:r>
          </a:p>
          <a:p>
            <a:pPr algn="just">
              <a:lnSpc>
                <a:spcPts val="4399"/>
              </a:lnSpc>
            </a:pPr>
            <a:r>
              <a:rPr lang="en-US" sz="2199" spc="2">
                <a:solidFill>
                  <a:srgbClr val="000000"/>
                </a:solidFill>
                <a:latin typeface="Arial"/>
                <a:ea typeface="Arial"/>
                <a:cs typeface="Arial"/>
                <a:sym typeface="Arial"/>
              </a:rPr>
              <a:t>Environmental conditions can change continuously, while traditional monitoring methods may rely on manual observation or isolated sensor readings. This makes it difficult to identify abnormal conditions, understand environmental risks, and respond quickly. Environmental data from multiple parameters can also be difficult to interpret without centralized monitoring and intelligent analysis. A system is therefore needed to continuously process sensor data, detect potential risks, and provide clear and timely insights for better decision-making.</a:t>
            </a:r>
          </a:p>
          <a:p>
            <a:pPr algn="just">
              <a:lnSpc>
                <a:spcPts val="2654"/>
              </a:lnSpc>
              <a:spcBef>
                <a:spcPct val="0"/>
              </a:spcBef>
            </a:pPr>
          </a:p>
          <a:p>
            <a:pPr algn="just">
              <a:lnSpc>
                <a:spcPts val="3299"/>
              </a:lnSpc>
            </a:pPr>
            <a:r>
              <a:rPr lang="en-US" b="true" sz="2199" spc="2">
                <a:solidFill>
                  <a:srgbClr val="000000"/>
                </a:solidFill>
                <a:latin typeface="Arial Bold"/>
                <a:ea typeface="Arial Bold"/>
                <a:cs typeface="Arial Bold"/>
                <a:sym typeface="Arial Bold"/>
              </a:rPr>
              <a:t>The Objective: </a:t>
            </a:r>
            <a:r>
              <a:rPr lang="en-US" sz="2199" spc="2">
                <a:solidFill>
                  <a:srgbClr val="000000"/>
                </a:solidFill>
                <a:latin typeface="Arial"/>
                <a:ea typeface="Arial"/>
                <a:cs typeface="Arial"/>
                <a:sym typeface="Arial"/>
              </a:rPr>
              <a:t>Build an AI-powered Environmental Monitoring and Risk Intelligence System that analyzes environmental sensor data and provides intelligent risk insights.</a:t>
            </a:r>
          </a:p>
          <a:p>
            <a:pPr algn="just">
              <a:lnSpc>
                <a:spcPts val="3299"/>
              </a:lnSpc>
            </a:pPr>
            <a:r>
              <a:rPr lang="en-US" sz="2199" spc="2">
                <a:solidFill>
                  <a:srgbClr val="000000"/>
                </a:solidFill>
                <a:latin typeface="Arial"/>
                <a:ea typeface="Arial"/>
                <a:cs typeface="Arial"/>
                <a:sym typeface="Arial"/>
              </a:rPr>
              <a:t> </a:t>
            </a:r>
          </a:p>
          <a:p>
            <a:pPr algn="just">
              <a:lnSpc>
                <a:spcPts val="3299"/>
              </a:lnSpc>
            </a:pPr>
            <a:r>
              <a:rPr lang="en-US" sz="2199" spc="3">
                <a:solidFill>
                  <a:srgbClr val="000000"/>
                </a:solidFill>
                <a:latin typeface="Arial"/>
                <a:ea typeface="Arial"/>
                <a:cs typeface="Arial"/>
                <a:sym typeface="Arial"/>
              </a:rPr>
              <a:t> </a:t>
            </a:r>
            <a:r>
              <a:rPr lang="en-US" b="true" sz="2199" spc="3">
                <a:solidFill>
                  <a:srgbClr val="000000"/>
                </a:solidFill>
                <a:latin typeface="Arial Bold"/>
                <a:ea typeface="Arial Bold"/>
                <a:cs typeface="Arial Bold"/>
                <a:sym typeface="Arial Bold"/>
              </a:rPr>
              <a:t>The solution should:</a:t>
            </a:r>
          </a:p>
          <a:p>
            <a:pPr algn="l" marL="474979" indent="-237490" lvl="1">
              <a:lnSpc>
                <a:spcPts val="4399"/>
              </a:lnSpc>
              <a:buFont typeface="Arial"/>
              <a:buChar char="•"/>
            </a:pPr>
            <a:r>
              <a:rPr lang="en-US" sz="2199" spc="3">
                <a:solidFill>
                  <a:srgbClr val="000000"/>
                </a:solidFill>
                <a:latin typeface="Arial"/>
                <a:ea typeface="Arial"/>
                <a:cs typeface="Arial"/>
                <a:sym typeface="Arial"/>
              </a:rPr>
              <a:t>Environmental Data Monitoring – Collect and process environmental sensor readings.</a:t>
            </a:r>
          </a:p>
          <a:p>
            <a:pPr algn="l" marL="474979" indent="-237490" lvl="1">
              <a:lnSpc>
                <a:spcPts val="4399"/>
              </a:lnSpc>
              <a:buFont typeface="Arial"/>
              <a:buChar char="•"/>
            </a:pPr>
            <a:r>
              <a:rPr lang="en-US" sz="2199" spc="3">
                <a:solidFill>
                  <a:srgbClr val="000000"/>
                </a:solidFill>
                <a:latin typeface="Arial"/>
                <a:ea typeface="Arial"/>
                <a:cs typeface="Arial"/>
                <a:sym typeface="Arial"/>
              </a:rPr>
              <a:t>Risk Detection – Identify abnormal or potentially hazardous conditions.</a:t>
            </a:r>
          </a:p>
          <a:p>
            <a:pPr algn="l" marL="474979" indent="-237490" lvl="1">
              <a:lnSpc>
                <a:spcPts val="4399"/>
              </a:lnSpc>
              <a:buFont typeface="Arial"/>
              <a:buChar char="•"/>
            </a:pPr>
            <a:r>
              <a:rPr lang="en-US" sz="2199" spc="3">
                <a:solidFill>
                  <a:srgbClr val="000000"/>
                </a:solidFill>
                <a:latin typeface="Arial"/>
                <a:ea typeface="Arial"/>
                <a:cs typeface="Arial"/>
                <a:sym typeface="Arial"/>
              </a:rPr>
              <a:t>AI-Powered Analysis – Use IBM Granite to analyze environmental conditions.</a:t>
            </a:r>
          </a:p>
          <a:p>
            <a:pPr algn="l" marL="474979" indent="-237490" lvl="1">
              <a:lnSpc>
                <a:spcPts val="4399"/>
              </a:lnSpc>
              <a:buFont typeface="Arial"/>
              <a:buChar char="•"/>
            </a:pPr>
            <a:r>
              <a:rPr lang="en-US" sz="2199" spc="3">
                <a:solidFill>
                  <a:srgbClr val="000000"/>
                </a:solidFill>
                <a:latin typeface="Arial"/>
                <a:ea typeface="Arial"/>
                <a:cs typeface="Arial"/>
                <a:sym typeface="Arial"/>
              </a:rPr>
              <a:t>Risk Classification – Convert analyzed conditions into understandable risk information.</a:t>
            </a:r>
          </a:p>
          <a:p>
            <a:pPr algn="l" marL="474979" indent="-237490" lvl="1">
              <a:lnSpc>
                <a:spcPts val="4399"/>
              </a:lnSpc>
              <a:buFont typeface="Arial"/>
              <a:buChar char="•"/>
            </a:pPr>
            <a:r>
              <a:rPr lang="en-US" sz="2199" spc="3">
                <a:solidFill>
                  <a:srgbClr val="000000"/>
                </a:solidFill>
                <a:latin typeface="Arial"/>
                <a:ea typeface="Arial"/>
                <a:cs typeface="Arial"/>
                <a:sym typeface="Arial"/>
              </a:rPr>
              <a:t>Real-Time Dashboard – Display sensor readings and AI-generated insights.</a:t>
            </a:r>
          </a:p>
          <a:p>
            <a:pPr algn="l" marL="474979" indent="-237490" lvl="1">
              <a:lnSpc>
                <a:spcPts val="4399"/>
              </a:lnSpc>
              <a:buFont typeface="Arial"/>
              <a:buChar char="•"/>
            </a:pPr>
            <a:r>
              <a:rPr lang="en-US" sz="2199" spc="3">
                <a:solidFill>
                  <a:srgbClr val="000000"/>
                </a:solidFill>
                <a:latin typeface="Arial"/>
                <a:ea typeface="Arial"/>
                <a:cs typeface="Arial"/>
                <a:sym typeface="Arial"/>
              </a:rPr>
              <a:t>Live Data Updates – Provide continuous dashboard updates using SSE.</a:t>
            </a:r>
          </a:p>
          <a:p>
            <a:pPr algn="l" marL="474979" indent="-237490" lvl="1">
              <a:lnSpc>
                <a:spcPts val="4399"/>
              </a:lnSpc>
              <a:buFont typeface="Arial"/>
              <a:buChar char="•"/>
            </a:pPr>
            <a:r>
              <a:rPr lang="en-US" sz="2199" spc="3">
                <a:solidFill>
                  <a:srgbClr val="000000"/>
                </a:solidFill>
                <a:latin typeface="Arial"/>
                <a:ea typeface="Arial"/>
                <a:cs typeface="Arial"/>
                <a:sym typeface="Arial"/>
              </a:rPr>
              <a:t>Alert Generation – Provide warnings when potential environmental risks are detected.</a:t>
            </a:r>
          </a:p>
          <a:p>
            <a:pPr algn="l" marL="474979" indent="-237490" lvl="1">
              <a:lnSpc>
                <a:spcPts val="4399"/>
              </a:lnSpc>
              <a:buFont typeface="Arial"/>
              <a:buChar char="•"/>
            </a:pPr>
            <a:r>
              <a:rPr lang="en-US" sz="2199" spc="3">
                <a:solidFill>
                  <a:srgbClr val="000000"/>
                </a:solidFill>
                <a:latin typeface="Arial"/>
                <a:ea typeface="Arial"/>
                <a:cs typeface="Arial"/>
                <a:sym typeface="Arial"/>
              </a:rPr>
              <a:t>IoT Readiness – Support MQTT-based ingestion for future real-world sensor integration.</a:t>
            </a:r>
          </a:p>
        </p:txBody>
      </p:sp>
    </p:spTree>
  </p:cSld>
  <p:clrMapOvr>
    <a:masterClrMapping/>
  </p:clrMapOvr>
  <p:transition spd="slow">
    <p:push dir="d"/>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7922" y="288055"/>
            <a:ext cx="18040078" cy="9356090"/>
          </a:xfrm>
          <a:prstGeom prst="rect">
            <a:avLst/>
          </a:prstGeom>
        </p:spPr>
        <p:txBody>
          <a:bodyPr anchor="t" rtlCol="false" tIns="0" lIns="0" bIns="0" rIns="0">
            <a:spAutoFit/>
          </a:bodyPr>
          <a:lstStyle/>
          <a:p>
            <a:pPr algn="just">
              <a:lnSpc>
                <a:spcPts val="3359"/>
              </a:lnSpc>
              <a:spcBef>
                <a:spcPct val="0"/>
              </a:spcBef>
            </a:pPr>
            <a:r>
              <a:rPr lang="en-US" b="true" sz="2799">
                <a:solidFill>
                  <a:srgbClr val="000000"/>
                </a:solidFill>
                <a:latin typeface="Arial Bold"/>
                <a:ea typeface="Arial Bold"/>
                <a:cs typeface="Arial Bold"/>
                <a:sym typeface="Arial Bold"/>
              </a:rPr>
              <a:t>Proposed Solution:</a:t>
            </a:r>
          </a:p>
          <a:p>
            <a:pPr algn="just">
              <a:lnSpc>
                <a:spcPts val="3359"/>
              </a:lnSpc>
              <a:spcBef>
                <a:spcPct val="0"/>
              </a:spcBef>
            </a:pPr>
            <a:r>
              <a:rPr lang="en-US" b="true" sz="2799">
                <a:solidFill>
                  <a:srgbClr val="000000"/>
                </a:solidFill>
                <a:latin typeface="Arial Bold"/>
                <a:ea typeface="Arial Bold"/>
                <a:cs typeface="Arial Bold"/>
                <a:sym typeface="Arial Bold"/>
              </a:rPr>
              <a:t> </a:t>
            </a:r>
          </a:p>
          <a:p>
            <a:pPr algn="just">
              <a:lnSpc>
                <a:spcPts val="3359"/>
              </a:lnSpc>
              <a:spcBef>
                <a:spcPct val="0"/>
              </a:spcBef>
            </a:pPr>
            <a:r>
              <a:rPr lang="en-US" b="true" sz="2799">
                <a:solidFill>
                  <a:srgbClr val="000000"/>
                </a:solidFill>
                <a:latin typeface="Arial Bold"/>
                <a:ea typeface="Arial Bold"/>
                <a:cs typeface="Arial Bold"/>
                <a:sym typeface="Arial Bold"/>
              </a:rPr>
              <a:t>EcoGuardAI:</a:t>
            </a:r>
          </a:p>
          <a:p>
            <a:pPr algn="just">
              <a:lnSpc>
                <a:spcPts val="4399"/>
              </a:lnSpc>
            </a:pPr>
            <a:r>
              <a:rPr lang="en-US" sz="2199" spc="2">
                <a:solidFill>
                  <a:srgbClr val="000000"/>
                </a:solidFill>
                <a:latin typeface="Arial"/>
                <a:ea typeface="Arial"/>
                <a:cs typeface="Arial"/>
                <a:sym typeface="Arial"/>
              </a:rPr>
              <a:t>The proposed solution is an AI-powered Environmental Monitoring and Risk Intelligence System designed to analyze environmental sensor data and provide intelligent risk insights. EcoGuardAI processes environmental readings through a backend system, analyzes the conditions using IBM Granite, and presents the results through a real-time monitoring dashboard.</a:t>
            </a:r>
          </a:p>
          <a:p>
            <a:pPr algn="just">
              <a:lnSpc>
                <a:spcPts val="4000"/>
              </a:lnSpc>
            </a:pPr>
          </a:p>
          <a:p>
            <a:pPr algn="just">
              <a:lnSpc>
                <a:spcPts val="4020"/>
              </a:lnSpc>
            </a:pPr>
            <a:r>
              <a:rPr lang="en-US" b="true" sz="2680" spc="4">
                <a:solidFill>
                  <a:srgbClr val="000000"/>
                </a:solidFill>
                <a:latin typeface="Arial Bold"/>
                <a:ea typeface="Arial Bold"/>
                <a:cs typeface="Arial Bold"/>
                <a:sym typeface="Arial Bold"/>
              </a:rPr>
              <a:t>The system provides:</a:t>
            </a:r>
          </a:p>
          <a:p>
            <a:pPr algn="l" marL="474979" indent="-237490" lvl="1">
              <a:lnSpc>
                <a:spcPts val="4399"/>
              </a:lnSpc>
              <a:buFont typeface="Arial"/>
              <a:buChar char="•"/>
            </a:pPr>
            <a:r>
              <a:rPr lang="en-US" sz="2199" spc="2">
                <a:solidFill>
                  <a:srgbClr val="000000"/>
                </a:solidFill>
                <a:latin typeface="Arial"/>
                <a:ea typeface="Arial"/>
                <a:cs typeface="Arial"/>
                <a:sym typeface="Arial"/>
              </a:rPr>
              <a:t>Environmental Data Processing – Processes sensor readings for environmental monitoring.</a:t>
            </a:r>
          </a:p>
          <a:p>
            <a:pPr algn="l" marL="474979" indent="-237490" lvl="1">
              <a:lnSpc>
                <a:spcPts val="4399"/>
              </a:lnSpc>
              <a:buFont typeface="Arial"/>
              <a:buChar char="•"/>
            </a:pPr>
            <a:r>
              <a:rPr lang="en-US" sz="2199" spc="2">
                <a:solidFill>
                  <a:srgbClr val="000000"/>
                </a:solidFill>
                <a:latin typeface="Arial"/>
                <a:ea typeface="Arial"/>
                <a:cs typeface="Arial"/>
                <a:sym typeface="Arial"/>
              </a:rPr>
              <a:t>Risk Detection – Identifies abnormal or potentially hazardous environmental conditions.</a:t>
            </a:r>
          </a:p>
          <a:p>
            <a:pPr algn="l" marL="474979" indent="-237490" lvl="1">
              <a:lnSpc>
                <a:spcPts val="4399"/>
              </a:lnSpc>
              <a:buFont typeface="Arial"/>
              <a:buChar char="•"/>
            </a:pPr>
            <a:r>
              <a:rPr lang="en-US" sz="2199" spc="2">
                <a:solidFill>
                  <a:srgbClr val="000000"/>
                </a:solidFill>
                <a:latin typeface="Arial"/>
                <a:ea typeface="Arial"/>
                <a:cs typeface="Arial"/>
                <a:sym typeface="Arial"/>
              </a:rPr>
              <a:t>IBM Granite Analysis – Uses IBM Granite to interpret sensor conditions and generate AI-powered insights.</a:t>
            </a:r>
          </a:p>
          <a:p>
            <a:pPr algn="l" marL="474979" indent="-237490" lvl="1">
              <a:lnSpc>
                <a:spcPts val="4399"/>
              </a:lnSpc>
              <a:buFont typeface="Arial"/>
              <a:buChar char="•"/>
            </a:pPr>
            <a:r>
              <a:rPr lang="en-US" sz="2199" spc="2">
                <a:solidFill>
                  <a:srgbClr val="000000"/>
                </a:solidFill>
                <a:latin typeface="Arial"/>
                <a:ea typeface="Arial"/>
                <a:cs typeface="Arial"/>
                <a:sym typeface="Arial"/>
              </a:rPr>
              <a:t>Risk Intelligence – Converts environmental analysis into understandable risk information.</a:t>
            </a:r>
          </a:p>
          <a:p>
            <a:pPr algn="l" marL="474979" indent="-237490" lvl="1">
              <a:lnSpc>
                <a:spcPts val="4399"/>
              </a:lnSpc>
              <a:buFont typeface="Arial"/>
              <a:buChar char="•"/>
            </a:pPr>
            <a:r>
              <a:rPr lang="en-US" sz="2199" spc="2">
                <a:solidFill>
                  <a:srgbClr val="000000"/>
                </a:solidFill>
                <a:latin typeface="Arial"/>
                <a:ea typeface="Arial"/>
                <a:cs typeface="Arial"/>
                <a:sym typeface="Arial"/>
              </a:rPr>
              <a:t>Real-Time Dashboard – Displays sensor data, risk status, and AI-generated insights.</a:t>
            </a:r>
          </a:p>
          <a:p>
            <a:pPr algn="l" marL="474979" indent="-237490" lvl="1">
              <a:lnSpc>
                <a:spcPts val="4399"/>
              </a:lnSpc>
              <a:buFont typeface="Arial"/>
              <a:buChar char="•"/>
            </a:pPr>
            <a:r>
              <a:rPr lang="en-US" sz="2199" spc="2">
                <a:solidFill>
                  <a:srgbClr val="000000"/>
                </a:solidFill>
                <a:latin typeface="Arial"/>
                <a:ea typeface="Arial"/>
                <a:cs typeface="Arial"/>
                <a:sym typeface="Arial"/>
              </a:rPr>
              <a:t>Live Updates – Uses Server-Sent Events (SSE) for continuous dashboard updates.</a:t>
            </a:r>
          </a:p>
          <a:p>
            <a:pPr algn="l" marL="474979" indent="-237490" lvl="1">
              <a:lnSpc>
                <a:spcPts val="4399"/>
              </a:lnSpc>
              <a:buFont typeface="Arial"/>
              <a:buChar char="•"/>
            </a:pPr>
            <a:r>
              <a:rPr lang="en-US" sz="2199" spc="2">
                <a:solidFill>
                  <a:srgbClr val="000000"/>
                </a:solidFill>
                <a:latin typeface="Arial"/>
                <a:ea typeface="Arial"/>
                <a:cs typeface="Arial"/>
                <a:sym typeface="Arial"/>
              </a:rPr>
              <a:t>Alert Generation – Provides warnings when environmental risks are detected.</a:t>
            </a:r>
          </a:p>
          <a:p>
            <a:pPr algn="l" marL="474979" indent="-237490" lvl="1">
              <a:lnSpc>
                <a:spcPts val="4399"/>
              </a:lnSpc>
              <a:buFont typeface="Arial"/>
              <a:buChar char="•"/>
            </a:pPr>
            <a:r>
              <a:rPr lang="en-US" sz="2199" spc="2">
                <a:solidFill>
                  <a:srgbClr val="000000"/>
                </a:solidFill>
                <a:latin typeface="Arial"/>
                <a:ea typeface="Arial"/>
                <a:cs typeface="Arial"/>
                <a:sym typeface="Arial"/>
              </a:rPr>
              <a:t>MQTT Readiness – Supports MQTT-based ingestion for future real-world IoT sensor integration.</a:t>
            </a:r>
          </a:p>
          <a:p>
            <a:pPr algn="l" marL="474979" indent="-237490" lvl="1">
              <a:lnSpc>
                <a:spcPts val="4399"/>
              </a:lnSpc>
              <a:buFont typeface="Arial"/>
              <a:buChar char="•"/>
            </a:pPr>
            <a:r>
              <a:rPr lang="en-US" sz="2199" spc="2">
                <a:solidFill>
                  <a:srgbClr val="000000"/>
                </a:solidFill>
                <a:latin typeface="Arial"/>
                <a:ea typeface="Arial"/>
                <a:cs typeface="Arial"/>
                <a:sym typeface="Arial"/>
              </a:rPr>
              <a:t>Overall, EcoGuardAI combines environmental monitoring with IBM Granite-powered intelligence to provide a real-time view of environmental conditions and potential risks.</a:t>
            </a:r>
          </a:p>
        </p:txBody>
      </p:sp>
    </p:spTree>
  </p:cSld>
  <p:clrMapOvr>
    <a:masterClrMapping/>
  </p:clrMapOvr>
  <p:transition spd="slow">
    <p:push dir="d"/>
  </p:transition>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7248" y="317911"/>
            <a:ext cx="18130752" cy="7403465"/>
          </a:xfrm>
          <a:prstGeom prst="rect">
            <a:avLst/>
          </a:prstGeom>
        </p:spPr>
        <p:txBody>
          <a:bodyPr anchor="t" rtlCol="false" tIns="0" lIns="0" bIns="0" rIns="0">
            <a:spAutoFit/>
          </a:bodyPr>
          <a:lstStyle/>
          <a:p>
            <a:pPr algn="l">
              <a:lnSpc>
                <a:spcPts val="3359"/>
              </a:lnSpc>
            </a:pPr>
            <a:r>
              <a:rPr lang="en-US" sz="2799" b="true">
                <a:solidFill>
                  <a:srgbClr val="000000"/>
                </a:solidFill>
                <a:latin typeface="Arial Bold"/>
                <a:ea typeface="Arial Bold"/>
                <a:cs typeface="Arial Bold"/>
                <a:sym typeface="Arial Bold"/>
              </a:rPr>
              <a:t>   </a:t>
            </a:r>
            <a:r>
              <a:rPr lang="en-US" b="true" sz="2799">
                <a:solidFill>
                  <a:srgbClr val="000000"/>
                </a:solidFill>
                <a:latin typeface="Arial Bold"/>
                <a:ea typeface="Arial Bold"/>
                <a:cs typeface="Arial Bold"/>
                <a:sym typeface="Arial Bold"/>
              </a:rPr>
              <a:t>Technology Used:</a:t>
            </a:r>
          </a:p>
          <a:p>
            <a:pPr algn="l">
              <a:lnSpc>
                <a:spcPts val="3560"/>
              </a:lnSpc>
            </a:pP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Python &amp; FastAPI</a:t>
            </a:r>
            <a:r>
              <a:rPr lang="en-US" sz="2199" spc="2">
                <a:solidFill>
                  <a:srgbClr val="000000"/>
                </a:solidFill>
                <a:latin typeface="Arial"/>
                <a:ea typeface="Arial"/>
                <a:cs typeface="Arial"/>
                <a:sym typeface="Arial"/>
              </a:rPr>
              <a:t> </a:t>
            </a:r>
            <a:r>
              <a:rPr lang="en-US" b="true" sz="2199" spc="2">
                <a:solidFill>
                  <a:srgbClr val="000000"/>
                </a:solidFill>
                <a:latin typeface="Arial Bold"/>
                <a:ea typeface="Arial Bold"/>
                <a:cs typeface="Arial Bold"/>
                <a:sym typeface="Arial Bold"/>
              </a:rPr>
              <a:t>–</a:t>
            </a:r>
            <a:r>
              <a:rPr lang="en-US" sz="2199" spc="2">
                <a:solidFill>
                  <a:srgbClr val="000000"/>
                </a:solidFill>
                <a:latin typeface="Arial"/>
                <a:ea typeface="Arial"/>
                <a:cs typeface="Arial"/>
                <a:sym typeface="Arial"/>
              </a:rPr>
              <a:t> For backend development, REST APIs, sensor-data processing, and agent orchestration</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IBM Granite (ibm/granite-4-h-small) –</a:t>
            </a:r>
            <a:r>
              <a:rPr lang="en-US" sz="2199" spc="2">
                <a:solidFill>
                  <a:srgbClr val="000000"/>
                </a:solidFill>
                <a:latin typeface="Arial"/>
                <a:ea typeface="Arial"/>
                <a:cs typeface="Arial"/>
                <a:sym typeface="Arial"/>
              </a:rPr>
              <a:t> For natural-language reasoning, violation reports, health-risk advisories, and regulatory analysis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IBM Cloud – </a:t>
            </a:r>
            <a:r>
              <a:rPr lang="en-US" sz="2199" spc="2">
                <a:solidFill>
                  <a:srgbClr val="000000"/>
                </a:solidFill>
                <a:latin typeface="Arial"/>
                <a:ea typeface="Arial"/>
                <a:cs typeface="Arial"/>
                <a:sym typeface="Arial"/>
              </a:rPr>
              <a:t>For IBM cloud services and future cloud deployment of EcoGuardAI</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IBM watsonx.ai – </a:t>
            </a:r>
            <a:r>
              <a:rPr lang="en-US" sz="2199" spc="2">
                <a:solidFill>
                  <a:srgbClr val="000000"/>
                </a:solidFill>
                <a:latin typeface="Arial"/>
                <a:ea typeface="Arial"/>
                <a:cs typeface="Arial"/>
                <a:sym typeface="Arial"/>
              </a:rPr>
              <a:t>For hosting and accessing the Granite LLM through the WatsonX AI SDK</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Multi-Agent AI Architecture –</a:t>
            </a:r>
            <a:r>
              <a:rPr lang="en-US" sz="2199" spc="2">
                <a:solidFill>
                  <a:srgbClr val="000000"/>
                </a:solidFill>
                <a:latin typeface="Arial"/>
                <a:ea typeface="Arial"/>
                <a:cs typeface="Arial"/>
                <a:sym typeface="Arial"/>
              </a:rPr>
              <a:t> For autonomous emission monitoring, violation detection, health-risk assessment, dashboard updates, and regulatory alerts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PostgreSQL / TimescaleDB –</a:t>
            </a:r>
            <a:r>
              <a:rPr lang="en-US" sz="2199" spc="2">
                <a:solidFill>
                  <a:srgbClr val="000000"/>
                </a:solidFill>
                <a:latin typeface="Arial"/>
                <a:ea typeface="Arial"/>
                <a:cs typeface="Arial"/>
                <a:sym typeface="Arial"/>
              </a:rPr>
              <a:t> For storing industrial stations, sensor readings, violations, and alerts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MQTT – </a:t>
            </a:r>
            <a:r>
              <a:rPr lang="en-US" sz="2199" spc="2">
                <a:solidFill>
                  <a:srgbClr val="000000"/>
                </a:solidFill>
                <a:latin typeface="Arial"/>
                <a:ea typeface="Arial"/>
                <a:cs typeface="Arial"/>
                <a:sym typeface="Arial"/>
              </a:rPr>
              <a:t>For real-time IoT sensor data ingestion; physical sensor integration is part of the future deployment</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SSE (Server-Sent Events) – </a:t>
            </a:r>
            <a:r>
              <a:rPr lang="en-US" sz="2199" spc="2">
                <a:solidFill>
                  <a:srgbClr val="000000"/>
                </a:solidFill>
                <a:latin typeface="Arial"/>
                <a:ea typeface="Arial"/>
                <a:cs typeface="Arial"/>
                <a:sym typeface="Arial"/>
              </a:rPr>
              <a:t>For real-time dashboard updates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HTML, CSS &amp; JavaScript –</a:t>
            </a:r>
            <a:r>
              <a:rPr lang="en-US" sz="2199" spc="2">
                <a:solidFill>
                  <a:srgbClr val="000000"/>
                </a:solidFill>
                <a:latin typeface="Arial"/>
                <a:ea typeface="Arial"/>
                <a:cs typeface="Arial"/>
                <a:sym typeface="Arial"/>
              </a:rPr>
              <a:t> For the live environmental monitoring dashboard</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Docker &amp; Docker Compose –</a:t>
            </a:r>
            <a:r>
              <a:rPr lang="en-US" sz="2199" spc="2">
                <a:solidFill>
                  <a:srgbClr val="000000"/>
                </a:solidFill>
                <a:latin typeface="Arial"/>
                <a:ea typeface="Arial"/>
                <a:cs typeface="Arial"/>
                <a:sym typeface="Arial"/>
              </a:rPr>
              <a:t> For containerized deployment of the application and supporting services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Alembic –</a:t>
            </a:r>
            <a:r>
              <a:rPr lang="en-US" sz="2199" spc="2">
                <a:solidFill>
                  <a:srgbClr val="000000"/>
                </a:solidFill>
                <a:latin typeface="Arial"/>
                <a:ea typeface="Arial"/>
                <a:cs typeface="Arial"/>
                <a:sym typeface="Arial"/>
              </a:rPr>
              <a:t> For database schema migrations and future production deployment</a:t>
            </a:r>
          </a:p>
        </p:txBody>
      </p:sp>
    </p:spTree>
  </p:cSld>
  <p:clrMapOvr>
    <a:masterClrMapping/>
  </p:clrMapOvr>
  <p:transition spd="slow">
    <p:push dir="d"/>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5065" y="304456"/>
            <a:ext cx="18112935" cy="9674225"/>
          </a:xfrm>
          <a:prstGeom prst="rect">
            <a:avLst/>
          </a:prstGeom>
        </p:spPr>
        <p:txBody>
          <a:bodyPr anchor="t" rtlCol="false" tIns="0" lIns="0" bIns="0" rIns="0">
            <a:spAutoFit/>
          </a:bodyPr>
          <a:lstStyle/>
          <a:p>
            <a:pPr algn="just">
              <a:lnSpc>
                <a:spcPts val="4199"/>
              </a:lnSpc>
            </a:pPr>
            <a:r>
              <a:rPr lang="en-US" b="true" sz="2799">
                <a:solidFill>
                  <a:srgbClr val="000000"/>
                </a:solidFill>
                <a:latin typeface="Arial Bold"/>
                <a:ea typeface="Arial Bold"/>
                <a:cs typeface="Arial Bold"/>
                <a:sym typeface="Arial Bold"/>
              </a:rPr>
              <a:t>   </a:t>
            </a:r>
            <a:r>
              <a:rPr lang="en-US" b="true" sz="2799">
                <a:solidFill>
                  <a:srgbClr val="000000"/>
                </a:solidFill>
                <a:latin typeface="Arial Bold"/>
                <a:ea typeface="Arial Bold"/>
                <a:cs typeface="Arial Bold"/>
                <a:sym typeface="Arial Bold"/>
              </a:rPr>
              <a:t>AI / Workflow Components Used:</a:t>
            </a:r>
          </a:p>
          <a:p>
            <a:pPr algn="just">
              <a:lnSpc>
                <a:spcPts val="4199"/>
              </a:lnSpc>
            </a:pPr>
          </a:p>
          <a:p>
            <a:pPr algn="l" marL="474979" indent="-237490" lvl="1">
              <a:lnSpc>
                <a:spcPts val="3299"/>
              </a:lnSpc>
              <a:buFont typeface="Arial"/>
              <a:buChar char="•"/>
            </a:pPr>
            <a:r>
              <a:rPr lang="en-US" b="true" sz="2199" spc="3">
                <a:solidFill>
                  <a:srgbClr val="000000"/>
                </a:solidFill>
                <a:latin typeface="Arial Bold"/>
                <a:ea typeface="Arial Bold"/>
                <a:cs typeface="Arial Bold"/>
                <a:sym typeface="Arial Bold"/>
              </a:rPr>
              <a:t>Sensor Input – </a:t>
            </a:r>
            <a:r>
              <a:rPr lang="en-US" sz="2199" spc="3">
                <a:solidFill>
                  <a:srgbClr val="000000"/>
                </a:solidFill>
                <a:latin typeface="Arial"/>
                <a:ea typeface="Arial"/>
                <a:cs typeface="Arial"/>
                <a:sym typeface="Arial"/>
              </a:rPr>
              <a:t>Receives industrial pollution readings from the sensor simulator and supports future IoT sensor integration.</a:t>
            </a:r>
          </a:p>
          <a:p>
            <a:pPr algn="l" marL="474979" indent="-237490" lvl="1">
              <a:lnSpc>
                <a:spcPts val="4399"/>
              </a:lnSpc>
              <a:buFont typeface="Arial"/>
              <a:buChar char="•"/>
            </a:pPr>
            <a:r>
              <a:rPr lang="en-US" b="true" sz="2199" spc="3">
                <a:solidFill>
                  <a:srgbClr val="000000"/>
                </a:solidFill>
                <a:latin typeface="Arial Bold"/>
                <a:ea typeface="Arial Bold"/>
                <a:cs typeface="Arial Bold"/>
                <a:sym typeface="Arial Bold"/>
              </a:rPr>
              <a:t>Agent Orchestrator – </a:t>
            </a:r>
            <a:r>
              <a:rPr lang="en-US" sz="2199" spc="3">
                <a:solidFill>
                  <a:srgbClr val="000000"/>
                </a:solidFill>
                <a:latin typeface="Arial"/>
                <a:ea typeface="Arial"/>
                <a:cs typeface="Arial"/>
                <a:sym typeface="Arial"/>
              </a:rPr>
              <a:t>Routes sensor events through the EcoGuardAI multi-agent workflow and coordinates agent-to-agent processing.</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IBM watsonx.ai / Granite Integration – </a:t>
            </a:r>
            <a:r>
              <a:rPr lang="en-US" sz="2199" spc="2">
                <a:solidFill>
                  <a:srgbClr val="000000"/>
                </a:solidFill>
                <a:latin typeface="Arial"/>
                <a:ea typeface="Arial"/>
                <a:cs typeface="Arial"/>
                <a:sym typeface="Arial"/>
              </a:rPr>
              <a:t>Uses IBM Granite for regulatory analysis, violation reports, environmental impact assessment, and intelligent health-risk advisories.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Event Bus &amp; SSE –</a:t>
            </a:r>
            <a:r>
              <a:rPr lang="en-US" sz="2199" spc="2">
                <a:solidFill>
                  <a:srgbClr val="000000"/>
                </a:solidFill>
                <a:latin typeface="Arial"/>
                <a:ea typeface="Arial"/>
                <a:cs typeface="Arial"/>
                <a:sym typeface="Arial"/>
              </a:rPr>
              <a:t> Connects backend agents with the web dashboard and delivers real-time monitoring and violation events.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FastAPI Backend – </a:t>
            </a:r>
            <a:r>
              <a:rPr lang="en-US" sz="2199" spc="2">
                <a:solidFill>
                  <a:srgbClr val="000000"/>
                </a:solidFill>
                <a:latin typeface="Arial"/>
                <a:ea typeface="Arial"/>
                <a:cs typeface="Arial"/>
                <a:sym typeface="Arial"/>
              </a:rPr>
              <a:t>Provides REST APIs for sensor readings, AQI, violations, monitoring data, and system health.</a:t>
            </a:r>
          </a:p>
          <a:p>
            <a:pPr algn="l" marL="474979" indent="-237490" lvl="1">
              <a:lnSpc>
                <a:spcPts val="4399"/>
              </a:lnSpc>
              <a:buFont typeface="Arial"/>
              <a:buChar char="•"/>
            </a:pPr>
            <a:r>
              <a:rPr lang="en-US" b="true" sz="2199" spc="3">
                <a:solidFill>
                  <a:srgbClr val="000000"/>
                </a:solidFill>
                <a:latin typeface="Arial Bold"/>
                <a:ea typeface="Arial Bold"/>
                <a:cs typeface="Arial Bold"/>
                <a:sym typeface="Arial Bold"/>
              </a:rPr>
              <a:t>Web Dashboard – Displays live monitoring stations, AQI, compliance, pollutant trends, and real-time alerts.</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IBM Granite Model – ibm/granite-4-h-small – </a:t>
            </a:r>
            <a:r>
              <a:rPr lang="en-US" sz="2199" spc="2">
                <a:solidFill>
                  <a:srgbClr val="000000"/>
                </a:solidFill>
                <a:latin typeface="Arial"/>
                <a:ea typeface="Arial"/>
                <a:cs typeface="Arial"/>
                <a:sym typeface="Arial"/>
              </a:rPr>
              <a:t>Used for regulatory analysis, violation reports, environmental risk assessment, and intelligent health advisories, helping EcoGuardAI make informed decisions from detected pollution events.</a:t>
            </a:r>
          </a:p>
          <a:p>
            <a:pPr algn="l" marL="474979" indent="-237490" lvl="1">
              <a:lnSpc>
                <a:spcPts val="4399"/>
              </a:lnSpc>
              <a:buFont typeface="Arial"/>
              <a:buChar char="•"/>
            </a:pPr>
            <a:r>
              <a:rPr lang="en-US" b="true" sz="2199" spc="3">
                <a:solidFill>
                  <a:srgbClr val="000000"/>
                </a:solidFill>
                <a:latin typeface="Arial Bold"/>
                <a:ea typeface="Arial Bold"/>
                <a:cs typeface="Arial Bold"/>
                <a:sym typeface="Arial Bold"/>
              </a:rPr>
              <a:t>Violation Detection Agent – </a:t>
            </a:r>
            <a:r>
              <a:rPr lang="en-US" sz="2199" spc="3">
                <a:solidFill>
                  <a:srgbClr val="000000"/>
                </a:solidFill>
                <a:latin typeface="Arial"/>
                <a:ea typeface="Arial"/>
                <a:cs typeface="Arial"/>
                <a:sym typeface="Arial"/>
              </a:rPr>
              <a:t>Detects pollution threshold violations, classifies severity, and generates AI-powered violation reports using IBM Granite.</a:t>
            </a:r>
          </a:p>
          <a:p>
            <a:pPr algn="l" marL="474979" indent="-237490" lvl="1">
              <a:lnSpc>
                <a:spcPts val="4399"/>
              </a:lnSpc>
              <a:buFont typeface="Arial"/>
              <a:buChar char="•"/>
            </a:pPr>
            <a:r>
              <a:rPr lang="en-US" b="true" sz="2199" spc="3">
                <a:solidFill>
                  <a:srgbClr val="000000"/>
                </a:solidFill>
                <a:latin typeface="Arial Bold"/>
                <a:ea typeface="Arial Bold"/>
                <a:cs typeface="Arial Bold"/>
                <a:sym typeface="Arial Bold"/>
              </a:rPr>
              <a:t>Public Health Risk Agent –</a:t>
            </a:r>
            <a:r>
              <a:rPr lang="en-US" sz="2199" spc="3">
                <a:solidFill>
                  <a:srgbClr val="000000"/>
                </a:solidFill>
                <a:latin typeface="Arial"/>
                <a:ea typeface="Arial"/>
                <a:cs typeface="Arial"/>
                <a:sym typeface="Arial"/>
              </a:rPr>
              <a:t> Performs WQI/AQI-based risk assessment, estimates the affected area, and generates health advisories.</a:t>
            </a:r>
          </a:p>
          <a:p>
            <a:pPr algn="l" marL="474979" indent="-237490" lvl="1">
              <a:lnSpc>
                <a:spcPts val="4399"/>
              </a:lnSpc>
              <a:buFont typeface="Arial"/>
              <a:buChar char="•"/>
            </a:pPr>
            <a:r>
              <a:rPr lang="en-US" b="true" sz="2199" spc="3">
                <a:solidFill>
                  <a:srgbClr val="000000"/>
                </a:solidFill>
                <a:latin typeface="Arial Bold"/>
                <a:ea typeface="Arial Bold"/>
                <a:cs typeface="Arial Bold"/>
                <a:sym typeface="Arial Bold"/>
              </a:rPr>
              <a:t>Dashboard Agent – </a:t>
            </a:r>
            <a:r>
              <a:rPr lang="en-US" sz="2199" spc="3">
                <a:solidFill>
                  <a:srgbClr val="000000"/>
                </a:solidFill>
                <a:latin typeface="Arial"/>
                <a:ea typeface="Arial"/>
                <a:cs typeface="Arial"/>
                <a:sym typeface="Arial"/>
              </a:rPr>
              <a:t>Processes monitoring results and sends real-time station, AQI, and violation updates to the web dashboard using SSE.</a:t>
            </a:r>
          </a:p>
          <a:p>
            <a:pPr algn="l" marL="474979" indent="-237490" lvl="1">
              <a:lnSpc>
                <a:spcPts val="4399"/>
              </a:lnSpc>
              <a:buFont typeface="Arial"/>
              <a:buChar char="•"/>
            </a:pPr>
            <a:r>
              <a:rPr lang="en-US" b="true" sz="2199" spc="2">
                <a:solidFill>
                  <a:srgbClr val="000000"/>
                </a:solidFill>
                <a:latin typeface="Arial Bold"/>
                <a:ea typeface="Arial Bold"/>
                <a:cs typeface="Arial Bold"/>
                <a:sym typeface="Arial Bold"/>
              </a:rPr>
              <a:t>Regulatory Alert Agent – </a:t>
            </a:r>
            <a:r>
              <a:rPr lang="en-US" sz="2199" spc="2">
                <a:solidFill>
                  <a:srgbClr val="000000"/>
                </a:solidFill>
                <a:latin typeface="Arial"/>
                <a:ea typeface="Arial"/>
                <a:cs typeface="Arial"/>
                <a:sym typeface="Arial"/>
              </a:rPr>
              <a:t>Handles LOW, MEDIUM, HIGH, and CRITICAL alerts through logging, dashboard notifications, email alerts, and regulatory webhooks.</a:t>
            </a:r>
          </a:p>
          <a:p>
            <a:pPr algn="l">
              <a:lnSpc>
                <a:spcPts val="4399"/>
              </a:lnSpc>
            </a:pPr>
          </a:p>
        </p:txBody>
      </p:sp>
    </p:spTree>
  </p:cSld>
  <p:clrMapOvr>
    <a:masterClrMapping/>
  </p:clrMapOvr>
  <p:transition spd="slow">
    <p:push dir="d"/>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6386" y="1157621"/>
            <a:ext cx="17202150" cy="8258175"/>
            <a:chOff x="0" y="0"/>
            <a:chExt cx="22936200" cy="11010900"/>
          </a:xfrm>
        </p:grpSpPr>
        <p:sp>
          <p:nvSpPr>
            <p:cNvPr name="Freeform 3" id="3"/>
            <p:cNvSpPr/>
            <p:nvPr/>
          </p:nvSpPr>
          <p:spPr>
            <a:xfrm flipH="false" flipV="false" rot="0">
              <a:off x="0" y="0"/>
              <a:ext cx="22936200" cy="11010900"/>
            </a:xfrm>
            <a:custGeom>
              <a:avLst/>
              <a:gdLst/>
              <a:ahLst/>
              <a:cxnLst/>
              <a:rect r="r" b="b" t="t" l="l"/>
              <a:pathLst>
                <a:path h="11010900" w="22936200">
                  <a:moveTo>
                    <a:pt x="0" y="0"/>
                  </a:moveTo>
                  <a:lnTo>
                    <a:pt x="22936200" y="0"/>
                  </a:lnTo>
                  <a:lnTo>
                    <a:pt x="22936200" y="11010900"/>
                  </a:lnTo>
                  <a:lnTo>
                    <a:pt x="0" y="11010900"/>
                  </a:lnTo>
                  <a:lnTo>
                    <a:pt x="0" y="0"/>
                  </a:lnTo>
                  <a:close/>
                </a:path>
              </a:pathLst>
            </a:custGeom>
            <a:blipFill>
              <a:blip r:embed="rId2"/>
              <a:stretch>
                <a:fillRect l="0" t="-6046" r="0" b="-6046"/>
              </a:stretch>
            </a:blipFill>
          </p:spPr>
        </p:sp>
      </p:grpSp>
      <p:sp>
        <p:nvSpPr>
          <p:cNvPr name="TextBox 4" id="4"/>
          <p:cNvSpPr txBox="true"/>
          <p:nvPr/>
        </p:nvSpPr>
        <p:spPr>
          <a:xfrm rot="0">
            <a:off x="806386" y="456286"/>
            <a:ext cx="8863394" cy="701335"/>
          </a:xfrm>
          <a:prstGeom prst="rect">
            <a:avLst/>
          </a:prstGeom>
        </p:spPr>
        <p:txBody>
          <a:bodyPr anchor="t" rtlCol="false" tIns="0" lIns="0" bIns="0" rIns="0">
            <a:spAutoFit/>
          </a:bodyPr>
          <a:lstStyle/>
          <a:p>
            <a:pPr algn="l">
              <a:lnSpc>
                <a:spcPts val="4320"/>
              </a:lnSpc>
            </a:pPr>
            <a:r>
              <a:rPr lang="en-US" b="true" sz="3600">
                <a:solidFill>
                  <a:srgbClr val="000000"/>
                </a:solidFill>
                <a:latin typeface="Arial Bold"/>
                <a:ea typeface="Arial Bold"/>
                <a:cs typeface="Arial Bold"/>
                <a:sym typeface="Arial Bold"/>
              </a:rPr>
              <a:t>Langflow</a:t>
            </a:r>
            <a:r>
              <a:rPr lang="en-US" b="true" sz="3600">
                <a:solidFill>
                  <a:srgbClr val="051D3A"/>
                </a:solidFill>
                <a:latin typeface="Arial Bold"/>
                <a:ea typeface="Arial Bold"/>
                <a:cs typeface="Arial Bold"/>
                <a:sym typeface="Arial Bold"/>
              </a:rPr>
              <a:t> </a:t>
            </a:r>
            <a:r>
              <a:rPr lang="en-US" b="true" sz="3600">
                <a:solidFill>
                  <a:srgbClr val="000000"/>
                </a:solidFill>
                <a:latin typeface="Arial Bold"/>
                <a:ea typeface="Arial Bold"/>
                <a:cs typeface="Arial Bold"/>
                <a:sym typeface="Arial Bold"/>
              </a:rPr>
              <a:t>workflow -</a:t>
            </a:r>
          </a:p>
        </p:txBody>
      </p:sp>
    </p:spTree>
  </p:cSld>
  <p:clrMapOvr>
    <a:masterClrMapping/>
  </p:clrMapOvr>
  <p:transition spd="slow">
    <p:push dir="d"/>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40472"/>
            <a:ext cx="15023631" cy="10006055"/>
            <a:chOff x="0" y="0"/>
            <a:chExt cx="23734778" cy="15807863"/>
          </a:xfrm>
        </p:grpSpPr>
        <p:sp>
          <p:nvSpPr>
            <p:cNvPr name="Freeform 3" id="3"/>
            <p:cNvSpPr/>
            <p:nvPr/>
          </p:nvSpPr>
          <p:spPr>
            <a:xfrm flipH="false" flipV="false" rot="0">
              <a:off x="0" y="0"/>
              <a:ext cx="23734778" cy="15807863"/>
            </a:xfrm>
            <a:custGeom>
              <a:avLst/>
              <a:gdLst/>
              <a:ahLst/>
              <a:cxnLst/>
              <a:rect r="r" b="b" t="t" l="l"/>
              <a:pathLst>
                <a:path h="15807863" w="23734778">
                  <a:moveTo>
                    <a:pt x="0" y="0"/>
                  </a:moveTo>
                  <a:lnTo>
                    <a:pt x="23734778" y="0"/>
                  </a:lnTo>
                  <a:lnTo>
                    <a:pt x="23734778" y="15807863"/>
                  </a:lnTo>
                  <a:lnTo>
                    <a:pt x="0" y="15807863"/>
                  </a:lnTo>
                  <a:lnTo>
                    <a:pt x="0" y="0"/>
                  </a:lnTo>
                  <a:close/>
                </a:path>
              </a:pathLst>
            </a:custGeom>
            <a:blipFill>
              <a:blip r:embed="rId2"/>
              <a:stretch>
                <a:fillRect l="0" t="-81" r="0" b="-81"/>
              </a:stretch>
            </a:blipFill>
          </p:spPr>
        </p:sp>
      </p:grpSp>
    </p:spTree>
  </p:cSld>
  <p:clrMapOvr>
    <a:masterClrMapping/>
  </p:clrMapOvr>
  <p:transition spd="slow">
    <p:push dir="d"/>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580895" y="1384532"/>
            <a:ext cx="4523013" cy="6784524"/>
            <a:chOff x="0" y="0"/>
            <a:chExt cx="6030684" cy="9046032"/>
          </a:xfrm>
        </p:grpSpPr>
        <p:sp>
          <p:nvSpPr>
            <p:cNvPr name="Freeform 3" id="3"/>
            <p:cNvSpPr/>
            <p:nvPr/>
          </p:nvSpPr>
          <p:spPr>
            <a:xfrm flipH="false" flipV="false" rot="0">
              <a:off x="0" y="0"/>
              <a:ext cx="6030722" cy="9046083"/>
            </a:xfrm>
            <a:custGeom>
              <a:avLst/>
              <a:gdLst/>
              <a:ahLst/>
              <a:cxnLst/>
              <a:rect r="r" b="b" t="t" l="l"/>
              <a:pathLst>
                <a:path h="9046083" w="6030722">
                  <a:moveTo>
                    <a:pt x="0" y="0"/>
                  </a:moveTo>
                  <a:lnTo>
                    <a:pt x="6030722" y="0"/>
                  </a:lnTo>
                  <a:lnTo>
                    <a:pt x="6030722" y="9046083"/>
                  </a:lnTo>
                  <a:lnTo>
                    <a:pt x="0" y="9046083"/>
                  </a:lnTo>
                  <a:lnTo>
                    <a:pt x="0" y="0"/>
                  </a:lnTo>
                  <a:close/>
                </a:path>
              </a:pathLst>
            </a:custGeom>
            <a:blipFill>
              <a:blip r:embed="rId2"/>
              <a:stretch>
                <a:fillRect l="0" t="0" r="0" b="0"/>
              </a:stretch>
            </a:blipFill>
          </p:spPr>
        </p:sp>
      </p:grpSp>
      <p:sp>
        <p:nvSpPr>
          <p:cNvPr name="TextBox 4" id="4"/>
          <p:cNvSpPr txBox="true"/>
          <p:nvPr/>
        </p:nvSpPr>
        <p:spPr>
          <a:xfrm rot="0">
            <a:off x="804672" y="451866"/>
            <a:ext cx="13793724" cy="804777"/>
          </a:xfrm>
          <a:prstGeom prst="rect">
            <a:avLst/>
          </a:prstGeom>
        </p:spPr>
        <p:txBody>
          <a:bodyPr anchor="t" rtlCol="false" tIns="0" lIns="0" bIns="0" rIns="0">
            <a:spAutoFit/>
          </a:bodyPr>
          <a:lstStyle/>
          <a:p>
            <a:pPr algn="l">
              <a:lnSpc>
                <a:spcPts val="5759"/>
              </a:lnSpc>
            </a:pPr>
            <a:r>
              <a:rPr lang="en-US" b="true" sz="4800">
                <a:solidFill>
                  <a:srgbClr val="000000"/>
                </a:solidFill>
                <a:latin typeface="Arial Bold"/>
                <a:ea typeface="Arial Bold"/>
                <a:cs typeface="Arial Bold"/>
                <a:sym typeface="Arial Bold"/>
              </a:rPr>
              <a:t>Role of Agentic AI in the solution </a:t>
            </a:r>
          </a:p>
        </p:txBody>
      </p:sp>
      <p:sp>
        <p:nvSpPr>
          <p:cNvPr name="TextBox 5" id="5"/>
          <p:cNvSpPr txBox="true"/>
          <p:nvPr/>
        </p:nvSpPr>
        <p:spPr>
          <a:xfrm rot="0">
            <a:off x="1028700" y="682804"/>
            <a:ext cx="12263497" cy="9901555"/>
          </a:xfrm>
          <a:prstGeom prst="rect">
            <a:avLst/>
          </a:prstGeom>
        </p:spPr>
        <p:txBody>
          <a:bodyPr anchor="t" rtlCol="false" tIns="0" lIns="0" bIns="0" rIns="0">
            <a:spAutoFit/>
          </a:bodyPr>
          <a:lstStyle/>
          <a:p>
            <a:pPr algn="just">
              <a:lnSpc>
                <a:spcPts val="4399"/>
              </a:lnSpc>
            </a:pPr>
          </a:p>
          <a:p>
            <a:pPr algn="just">
              <a:lnSpc>
                <a:spcPts val="4399"/>
              </a:lnSpc>
            </a:pPr>
            <a:r>
              <a:rPr lang="en-US" sz="2199" spc="3">
                <a:solidFill>
                  <a:srgbClr val="000000"/>
                </a:solidFill>
                <a:latin typeface="Arial"/>
                <a:ea typeface="Arial"/>
                <a:cs typeface="Arial"/>
                <a:sym typeface="Arial"/>
              </a:rPr>
              <a:t>Agentic AI makes EcoGuardAI an intelligent and autonomous pollution-monitoring platform powered by IBM watsonx.ai and IBM Granite.</a:t>
            </a:r>
          </a:p>
          <a:p>
            <a:pPr algn="just">
              <a:lnSpc>
                <a:spcPts val="4399"/>
              </a:lnSpc>
            </a:pPr>
            <a:r>
              <a:rPr lang="en-US" b="true" sz="2199" spc="3">
                <a:solidFill>
                  <a:srgbClr val="000000"/>
                </a:solidFill>
                <a:latin typeface="Arial Bold"/>
                <a:ea typeface="Arial Bold"/>
                <a:cs typeface="Arial Bold"/>
                <a:sym typeface="Arial Bold"/>
              </a:rPr>
              <a:t>Emission Monitoring Agent →</a:t>
            </a:r>
            <a:r>
              <a:rPr lang="en-US" sz="2199" spc="3">
                <a:solidFill>
                  <a:srgbClr val="000000"/>
                </a:solidFill>
                <a:latin typeface="Arial"/>
                <a:ea typeface="Arial"/>
                <a:cs typeface="Arial"/>
                <a:sym typeface="Arial"/>
              </a:rPr>
              <a:t> continuously monitors air &amp; water pollution readings.</a:t>
            </a:r>
          </a:p>
          <a:p>
            <a:pPr algn="just">
              <a:lnSpc>
                <a:spcPts val="4399"/>
              </a:lnSpc>
            </a:pPr>
            <a:r>
              <a:rPr lang="en-US" b="true" sz="2199" spc="3">
                <a:solidFill>
                  <a:srgbClr val="000000"/>
                </a:solidFill>
                <a:latin typeface="Arial Bold"/>
                <a:ea typeface="Arial Bold"/>
                <a:cs typeface="Arial Bold"/>
                <a:sym typeface="Arial Bold"/>
              </a:rPr>
              <a:t>Violation Detection Agent →</a:t>
            </a:r>
            <a:r>
              <a:rPr lang="en-US" sz="2199" spc="3">
                <a:solidFill>
                  <a:srgbClr val="000000"/>
                </a:solidFill>
                <a:latin typeface="Arial"/>
                <a:ea typeface="Arial"/>
                <a:cs typeface="Arial"/>
                <a:sym typeface="Arial"/>
              </a:rPr>
              <a:t> identifies abnormal readings and pollution-limit violations.</a:t>
            </a:r>
          </a:p>
          <a:p>
            <a:pPr algn="just">
              <a:lnSpc>
                <a:spcPts val="4399"/>
              </a:lnSpc>
            </a:pPr>
            <a:r>
              <a:rPr lang="en-US" b="true" sz="2199" spc="3">
                <a:solidFill>
                  <a:srgbClr val="000000"/>
                </a:solidFill>
                <a:latin typeface="Arial Bold"/>
                <a:ea typeface="Arial Bold"/>
                <a:cs typeface="Arial Bold"/>
                <a:sym typeface="Arial Bold"/>
              </a:rPr>
              <a:t>Regulatory Alert Agent →</a:t>
            </a:r>
            <a:r>
              <a:rPr lang="en-US" sz="2199" spc="3">
                <a:solidFill>
                  <a:srgbClr val="000000"/>
                </a:solidFill>
                <a:latin typeface="Arial"/>
                <a:ea typeface="Arial"/>
                <a:cs typeface="Arial"/>
                <a:sym typeface="Arial"/>
              </a:rPr>
              <a:t> prioritizes violations and generates alerts.</a:t>
            </a:r>
          </a:p>
          <a:p>
            <a:pPr algn="just">
              <a:lnSpc>
                <a:spcPts val="4399"/>
              </a:lnSpc>
            </a:pPr>
            <a:r>
              <a:rPr lang="en-US" b="true" sz="2199" spc="3">
                <a:solidFill>
                  <a:srgbClr val="000000"/>
                </a:solidFill>
                <a:latin typeface="Arial Bold"/>
                <a:ea typeface="Arial Bold"/>
                <a:cs typeface="Arial Bold"/>
                <a:sym typeface="Arial Bold"/>
              </a:rPr>
              <a:t>Public Health Risk Agent →</a:t>
            </a:r>
            <a:r>
              <a:rPr lang="en-US" sz="2199" spc="3">
                <a:solidFill>
                  <a:srgbClr val="000000"/>
                </a:solidFill>
                <a:latin typeface="Arial"/>
                <a:ea typeface="Arial"/>
                <a:cs typeface="Arial"/>
                <a:sym typeface="Arial"/>
              </a:rPr>
              <a:t> evaluates pollution impact and provides safety guidance.</a:t>
            </a:r>
          </a:p>
          <a:p>
            <a:pPr algn="just">
              <a:lnSpc>
                <a:spcPts val="4399"/>
              </a:lnSpc>
            </a:pPr>
            <a:r>
              <a:rPr lang="en-US" b="true" sz="2199" spc="3">
                <a:solidFill>
                  <a:srgbClr val="000000"/>
                </a:solidFill>
                <a:latin typeface="Arial Bold"/>
                <a:ea typeface="Arial Bold"/>
                <a:cs typeface="Arial Bold"/>
                <a:sym typeface="Arial Bold"/>
              </a:rPr>
              <a:t>Dashboard Agent →</a:t>
            </a:r>
            <a:r>
              <a:rPr lang="en-US" sz="2199" spc="3">
                <a:solidFill>
                  <a:srgbClr val="000000"/>
                </a:solidFill>
                <a:latin typeface="Arial"/>
                <a:ea typeface="Arial"/>
                <a:cs typeface="Arial"/>
                <a:sym typeface="Arial"/>
              </a:rPr>
              <a:t> aggregates live data and updates the monitoring dashboard.</a:t>
            </a:r>
          </a:p>
          <a:p>
            <a:pPr algn="just">
              <a:lnSpc>
                <a:spcPts val="4399"/>
              </a:lnSpc>
            </a:pPr>
            <a:r>
              <a:rPr lang="en-US" b="true" sz="2199" spc="3">
                <a:solidFill>
                  <a:srgbClr val="000000"/>
                </a:solidFill>
                <a:latin typeface="Arial Bold"/>
                <a:ea typeface="Arial Bold"/>
                <a:cs typeface="Arial Bold"/>
                <a:sym typeface="Arial Bold"/>
              </a:rPr>
              <a:t>IBM Granite → </a:t>
            </a:r>
            <a:r>
              <a:rPr lang="en-US" sz="2199" spc="3">
                <a:solidFill>
                  <a:srgbClr val="000000"/>
                </a:solidFill>
                <a:latin typeface="Arial"/>
                <a:ea typeface="Arial"/>
                <a:cs typeface="Arial"/>
                <a:sym typeface="Arial"/>
              </a:rPr>
              <a:t>analyzes verified environmental data and generates reports, explanations, insights, and recommendations.</a:t>
            </a:r>
          </a:p>
          <a:p>
            <a:pPr algn="just">
              <a:lnSpc>
                <a:spcPts val="4399"/>
              </a:lnSpc>
            </a:pPr>
            <a:r>
              <a:rPr lang="en-US" b="true" sz="2199" spc="3">
                <a:solidFill>
                  <a:srgbClr val="000000"/>
                </a:solidFill>
                <a:latin typeface="Arial Bold"/>
                <a:ea typeface="Arial Bold"/>
                <a:cs typeface="Arial Bold"/>
                <a:sym typeface="Arial Bold"/>
              </a:rPr>
              <a:t>Real-time processing → </a:t>
            </a:r>
            <a:r>
              <a:rPr lang="en-US" sz="2199" spc="3">
                <a:solidFill>
                  <a:srgbClr val="000000"/>
                </a:solidFill>
                <a:latin typeface="Arial"/>
                <a:ea typeface="Arial"/>
                <a:cs typeface="Arial"/>
                <a:sym typeface="Arial"/>
              </a:rPr>
              <a:t>continuously reacts to incoming sensor readings and new violations.</a:t>
            </a:r>
          </a:p>
          <a:p>
            <a:pPr algn="just">
              <a:lnSpc>
                <a:spcPts val="4399"/>
              </a:lnSpc>
            </a:pPr>
            <a:r>
              <a:rPr lang="en-US" b="true" sz="2199" spc="3">
                <a:solidFill>
                  <a:srgbClr val="000000"/>
                </a:solidFill>
                <a:latin typeface="Arial Bold"/>
                <a:ea typeface="Arial Bold"/>
                <a:cs typeface="Arial Bold"/>
                <a:sym typeface="Arial Bold"/>
              </a:rPr>
              <a:t>Multi-agent coordination →</a:t>
            </a:r>
            <a:r>
              <a:rPr lang="en-US" sz="2199" spc="3">
                <a:solidFill>
                  <a:srgbClr val="000000"/>
                </a:solidFill>
                <a:latin typeface="Arial"/>
                <a:ea typeface="Arial"/>
                <a:cs typeface="Arial"/>
                <a:sym typeface="Arial"/>
              </a:rPr>
              <a:t> agents work together to move from detection to analysis and response.</a:t>
            </a:r>
          </a:p>
          <a:p>
            <a:pPr algn="just">
              <a:lnSpc>
                <a:spcPts val="4399"/>
              </a:lnSpc>
            </a:pPr>
            <a:r>
              <a:rPr lang="en-US" sz="2199" spc="3">
                <a:solidFill>
                  <a:srgbClr val="000000"/>
                </a:solidFill>
                <a:latin typeface="Arial"/>
                <a:ea typeface="Arial"/>
                <a:cs typeface="Arial"/>
                <a:sym typeface="Arial"/>
              </a:rPr>
              <a:t>Overall:</a:t>
            </a:r>
          </a:p>
          <a:p>
            <a:pPr algn="just">
              <a:lnSpc>
                <a:spcPts val="4399"/>
              </a:lnSpc>
            </a:pPr>
            <a:r>
              <a:rPr lang="en-US" b="true" sz="2199" spc="3">
                <a:solidFill>
                  <a:srgbClr val="000000"/>
                </a:solidFill>
                <a:latin typeface="Arial Bold"/>
                <a:ea typeface="Arial Bold"/>
                <a:cs typeface="Arial Bold"/>
                <a:sym typeface="Arial Bold"/>
              </a:rPr>
              <a:t>Sensor Data → Monitor → Analyze → Detect Violation → Assess Risk → Alert → AI Recommendation</a:t>
            </a:r>
          </a:p>
          <a:p>
            <a:pPr algn="just">
              <a:lnSpc>
                <a:spcPts val="4399"/>
              </a:lnSpc>
            </a:pPr>
            <a:r>
              <a:rPr lang="en-US" b="true" sz="2199" spc="3">
                <a:solidFill>
                  <a:srgbClr val="000000"/>
                </a:solidFill>
                <a:latin typeface="Arial Bold"/>
                <a:ea typeface="Arial Bold"/>
                <a:cs typeface="Arial Bold"/>
                <a:sym typeface="Arial Bold"/>
              </a:rPr>
              <a:t>This makes EcoGuardAI more than a dashboard—it becomes an AI-powered environmental decision-support system.</a:t>
            </a:r>
          </a:p>
        </p:txBody>
      </p:sp>
    </p:spTree>
  </p:cSld>
  <p:clrMapOvr>
    <a:masterClrMapping/>
  </p:clrMapOvr>
  <p:transition spd="slow">
    <p:push dir="d"/>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28086" y="483077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3" id="3"/>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grpSp>
        <p:nvGrpSpPr>
          <p:cNvPr name="Group 4" id="4"/>
          <p:cNvGrpSpPr/>
          <p:nvPr/>
        </p:nvGrpSpPr>
        <p:grpSpPr>
          <a:xfrm rot="0">
            <a:off x="893598" y="2441555"/>
            <a:ext cx="7981391" cy="4475547"/>
            <a:chOff x="0" y="0"/>
            <a:chExt cx="10191750" cy="5715000"/>
          </a:xfrm>
        </p:grpSpPr>
        <p:sp>
          <p:nvSpPr>
            <p:cNvPr name="Freeform 5" id="5"/>
            <p:cNvSpPr/>
            <p:nvPr/>
          </p:nvSpPr>
          <p:spPr>
            <a:xfrm flipH="false" flipV="false" rot="0">
              <a:off x="0" y="0"/>
              <a:ext cx="10191750" cy="5715000"/>
            </a:xfrm>
            <a:custGeom>
              <a:avLst/>
              <a:gdLst/>
              <a:ahLst/>
              <a:cxnLst/>
              <a:rect r="r" b="b" t="t" l="l"/>
              <a:pathLst>
                <a:path h="5715000" w="10191750">
                  <a:moveTo>
                    <a:pt x="0" y="0"/>
                  </a:moveTo>
                  <a:lnTo>
                    <a:pt x="10191750" y="0"/>
                  </a:lnTo>
                  <a:lnTo>
                    <a:pt x="10191750" y="5715000"/>
                  </a:lnTo>
                  <a:lnTo>
                    <a:pt x="0" y="5715000"/>
                  </a:lnTo>
                  <a:lnTo>
                    <a:pt x="0" y="0"/>
                  </a:lnTo>
                  <a:close/>
                </a:path>
              </a:pathLst>
            </a:custGeom>
            <a:blipFill>
              <a:blip r:embed="rId2"/>
              <a:stretch>
                <a:fillRect l="0" t="-713" r="0" b="-713"/>
              </a:stretch>
            </a:blipFill>
          </p:spPr>
        </p:sp>
      </p:grpSp>
      <p:grpSp>
        <p:nvGrpSpPr>
          <p:cNvPr name="Group 6" id="6"/>
          <p:cNvGrpSpPr/>
          <p:nvPr/>
        </p:nvGrpSpPr>
        <p:grpSpPr>
          <a:xfrm rot="0">
            <a:off x="9144000" y="2441555"/>
            <a:ext cx="8586788" cy="4475547"/>
            <a:chOff x="0" y="0"/>
            <a:chExt cx="11449050" cy="5967395"/>
          </a:xfrm>
        </p:grpSpPr>
        <p:sp>
          <p:nvSpPr>
            <p:cNvPr name="Freeform 7" id="7"/>
            <p:cNvSpPr/>
            <p:nvPr/>
          </p:nvSpPr>
          <p:spPr>
            <a:xfrm flipH="false" flipV="false" rot="0">
              <a:off x="0" y="0"/>
              <a:ext cx="11449050" cy="5967395"/>
            </a:xfrm>
            <a:custGeom>
              <a:avLst/>
              <a:gdLst/>
              <a:ahLst/>
              <a:cxnLst/>
              <a:rect r="r" b="b" t="t" l="l"/>
              <a:pathLst>
                <a:path h="5967395" w="11449050">
                  <a:moveTo>
                    <a:pt x="0" y="0"/>
                  </a:moveTo>
                  <a:lnTo>
                    <a:pt x="11449050" y="0"/>
                  </a:lnTo>
                  <a:lnTo>
                    <a:pt x="11449050" y="5967395"/>
                  </a:lnTo>
                  <a:lnTo>
                    <a:pt x="0" y="5967395"/>
                  </a:lnTo>
                  <a:lnTo>
                    <a:pt x="0" y="0"/>
                  </a:lnTo>
                  <a:close/>
                </a:path>
              </a:pathLst>
            </a:custGeom>
            <a:blipFill>
              <a:blip r:embed="rId3"/>
              <a:stretch>
                <a:fillRect l="0" t="-1382" r="0" b="-1382"/>
              </a:stretch>
            </a:blipFill>
          </p:spPr>
        </p:sp>
      </p:grpSp>
      <p:sp>
        <p:nvSpPr>
          <p:cNvPr name="TextBox 8" id="8"/>
          <p:cNvSpPr txBox="true"/>
          <p:nvPr/>
        </p:nvSpPr>
        <p:spPr>
          <a:xfrm rot="0">
            <a:off x="1951493" y="1450738"/>
            <a:ext cx="3931920" cy="527771"/>
          </a:xfrm>
          <a:prstGeom prst="rect">
            <a:avLst/>
          </a:prstGeom>
        </p:spPr>
        <p:txBody>
          <a:bodyPr anchor="t" rtlCol="false" tIns="0" lIns="0" bIns="0" rIns="0">
            <a:spAutoFit/>
          </a:bodyPr>
          <a:lstStyle/>
          <a:p>
            <a:pPr algn="l">
              <a:lnSpc>
                <a:spcPts val="3600"/>
              </a:lnSpc>
            </a:pPr>
            <a:r>
              <a:rPr lang="en-US" sz="3000" u="sng">
                <a:solidFill>
                  <a:srgbClr val="000000"/>
                </a:solidFill>
                <a:latin typeface="Arial"/>
                <a:ea typeface="Arial"/>
                <a:cs typeface="Arial"/>
                <a:sym typeface="Arial"/>
              </a:rPr>
              <a:t>Before Prompt</a:t>
            </a:r>
          </a:p>
        </p:txBody>
      </p:sp>
      <p:sp>
        <p:nvSpPr>
          <p:cNvPr name="TextBox 9" id="9"/>
          <p:cNvSpPr txBox="true"/>
          <p:nvPr/>
        </p:nvSpPr>
        <p:spPr>
          <a:xfrm rot="0">
            <a:off x="11064954" y="1450738"/>
            <a:ext cx="3931920" cy="527771"/>
          </a:xfrm>
          <a:prstGeom prst="rect">
            <a:avLst/>
          </a:prstGeom>
        </p:spPr>
        <p:txBody>
          <a:bodyPr anchor="t" rtlCol="false" tIns="0" lIns="0" bIns="0" rIns="0">
            <a:spAutoFit/>
          </a:bodyPr>
          <a:lstStyle/>
          <a:p>
            <a:pPr algn="l">
              <a:lnSpc>
                <a:spcPts val="3600"/>
              </a:lnSpc>
            </a:pPr>
            <a:r>
              <a:rPr lang="en-US" sz="3000" u="sng">
                <a:solidFill>
                  <a:srgbClr val="000000"/>
                </a:solidFill>
                <a:latin typeface="Arial"/>
                <a:ea typeface="Arial"/>
                <a:cs typeface="Arial"/>
                <a:sym typeface="Arial"/>
              </a:rPr>
              <a:t>After the Prompt</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57300" y="744093"/>
            <a:ext cx="10501884" cy="629631"/>
          </a:xfrm>
          <a:prstGeom prst="rect">
            <a:avLst/>
          </a:prstGeom>
        </p:spPr>
        <p:txBody>
          <a:bodyPr anchor="t" rtlCol="false" tIns="0" lIns="0" bIns="0" rIns="0">
            <a:spAutoFit/>
          </a:bodyPr>
          <a:lstStyle/>
          <a:p>
            <a:pPr algn="l">
              <a:lnSpc>
                <a:spcPts val="4320"/>
              </a:lnSpc>
            </a:pPr>
            <a:r>
              <a:rPr lang="en-US" b="true" sz="3600">
                <a:solidFill>
                  <a:srgbClr val="000000"/>
                </a:solidFill>
                <a:latin typeface="Arial Bold"/>
                <a:ea typeface="Arial Bold"/>
                <a:cs typeface="Arial Bold"/>
                <a:sym typeface="Arial Bold"/>
              </a:rPr>
              <a:t>Novelty and Uniqueness</a:t>
            </a:r>
          </a:p>
        </p:txBody>
      </p:sp>
      <p:sp>
        <p:nvSpPr>
          <p:cNvPr name="TextBox 3" id="3"/>
          <p:cNvSpPr txBox="true"/>
          <p:nvPr/>
        </p:nvSpPr>
        <p:spPr>
          <a:xfrm rot="0">
            <a:off x="1257300" y="1735539"/>
            <a:ext cx="17030700" cy="6586855"/>
          </a:xfrm>
          <a:prstGeom prst="rect">
            <a:avLst/>
          </a:prstGeom>
        </p:spPr>
        <p:txBody>
          <a:bodyPr anchor="t" rtlCol="false" tIns="0" lIns="0" bIns="0" rIns="0">
            <a:spAutoFit/>
          </a:bodyPr>
          <a:lstStyle/>
          <a:p>
            <a:pPr algn="just">
              <a:lnSpc>
                <a:spcPts val="4399"/>
              </a:lnSpc>
            </a:pPr>
          </a:p>
          <a:p>
            <a:pPr algn="just">
              <a:lnSpc>
                <a:spcPts val="4399"/>
              </a:lnSpc>
            </a:pPr>
            <a:r>
              <a:rPr lang="en-US" sz="2199" spc="3">
                <a:solidFill>
                  <a:srgbClr val="000000"/>
                </a:solidFill>
                <a:latin typeface="Arial"/>
                <a:ea typeface="Arial"/>
                <a:cs typeface="Arial"/>
                <a:sym typeface="Arial"/>
              </a:rPr>
              <a:t>EcoGuardAI combines Agentic AI, real-time pollution monitoring, and IBM Granite into one intelligent environmental platform.</a:t>
            </a:r>
          </a:p>
          <a:p>
            <a:pPr algn="just">
              <a:lnSpc>
                <a:spcPts val="4399"/>
              </a:lnSpc>
            </a:pPr>
            <a:r>
              <a:rPr lang="en-US" b="true" sz="2199" spc="3">
                <a:solidFill>
                  <a:srgbClr val="000000"/>
                </a:solidFill>
                <a:latin typeface="Arial Bold"/>
                <a:ea typeface="Arial Bold"/>
                <a:cs typeface="Arial Bold"/>
                <a:sym typeface="Arial Bold"/>
              </a:rPr>
              <a:t>Multi-Agent AI –</a:t>
            </a:r>
            <a:r>
              <a:rPr lang="en-US" sz="2199" spc="3">
                <a:solidFill>
                  <a:srgbClr val="000000"/>
                </a:solidFill>
                <a:latin typeface="Arial"/>
                <a:ea typeface="Arial"/>
                <a:cs typeface="Arial"/>
                <a:sym typeface="Arial"/>
              </a:rPr>
              <a:t> Specialized agents monitor, detect violations, assess risks, and generate alerts.</a:t>
            </a:r>
          </a:p>
          <a:p>
            <a:pPr algn="just">
              <a:lnSpc>
                <a:spcPts val="4399"/>
              </a:lnSpc>
            </a:pPr>
            <a:r>
              <a:rPr lang="en-US" b="true" sz="2199" spc="3">
                <a:solidFill>
                  <a:srgbClr val="000000"/>
                </a:solidFill>
                <a:latin typeface="Arial Bold"/>
                <a:ea typeface="Arial Bold"/>
                <a:cs typeface="Arial Bold"/>
                <a:sym typeface="Arial Bold"/>
              </a:rPr>
              <a:t>Real-Time Monitoring – </a:t>
            </a:r>
            <a:r>
              <a:rPr lang="en-US" sz="2199" spc="3">
                <a:solidFill>
                  <a:srgbClr val="000000"/>
                </a:solidFill>
                <a:latin typeface="Arial"/>
                <a:ea typeface="Arial"/>
                <a:cs typeface="Arial"/>
                <a:sym typeface="Arial"/>
              </a:rPr>
              <a:t>Tracks live air and water quality across monitoring stations.</a:t>
            </a:r>
          </a:p>
          <a:p>
            <a:pPr algn="just">
              <a:lnSpc>
                <a:spcPts val="4399"/>
              </a:lnSpc>
            </a:pPr>
            <a:r>
              <a:rPr lang="en-US" b="true" sz="2199" spc="3">
                <a:solidFill>
                  <a:srgbClr val="000000"/>
                </a:solidFill>
                <a:latin typeface="Arial Bold"/>
                <a:ea typeface="Arial Bold"/>
                <a:cs typeface="Arial Bold"/>
                <a:sym typeface="Arial Bold"/>
              </a:rPr>
              <a:t>IBM Granite Intelligence –</a:t>
            </a:r>
            <a:r>
              <a:rPr lang="en-US" sz="2199" spc="3">
                <a:solidFill>
                  <a:srgbClr val="000000"/>
                </a:solidFill>
                <a:latin typeface="Arial"/>
                <a:ea typeface="Arial"/>
                <a:cs typeface="Arial"/>
                <a:sym typeface="Arial"/>
              </a:rPr>
              <a:t> Generates reports, insights, explanations, and recommendations from monitoring data.</a:t>
            </a:r>
          </a:p>
          <a:p>
            <a:pPr algn="just">
              <a:lnSpc>
                <a:spcPts val="4399"/>
              </a:lnSpc>
            </a:pPr>
            <a:r>
              <a:rPr lang="en-US" b="true" sz="2199" spc="3">
                <a:solidFill>
                  <a:srgbClr val="000000"/>
                </a:solidFill>
                <a:latin typeface="Arial Bold"/>
                <a:ea typeface="Arial Bold"/>
                <a:cs typeface="Arial Bold"/>
                <a:sym typeface="Arial Bold"/>
              </a:rPr>
              <a:t>AI Violation Detection –</a:t>
            </a:r>
            <a:r>
              <a:rPr lang="en-US" sz="2199" spc="3">
                <a:solidFill>
                  <a:srgbClr val="000000"/>
                </a:solidFill>
                <a:latin typeface="Arial"/>
                <a:ea typeface="Arial"/>
                <a:cs typeface="Arial"/>
                <a:sym typeface="Arial"/>
              </a:rPr>
              <a:t> Identifies abnormal pollution levels and classifies their severity.</a:t>
            </a:r>
          </a:p>
          <a:p>
            <a:pPr algn="just">
              <a:lnSpc>
                <a:spcPts val="4399"/>
              </a:lnSpc>
            </a:pPr>
            <a:r>
              <a:rPr lang="en-US" b="true" sz="2199" spc="3">
                <a:solidFill>
                  <a:srgbClr val="000000"/>
                </a:solidFill>
                <a:latin typeface="Arial Bold"/>
                <a:ea typeface="Arial Bold"/>
                <a:cs typeface="Arial Bold"/>
                <a:sym typeface="Arial Bold"/>
              </a:rPr>
              <a:t>Health Risk Analysis – </a:t>
            </a:r>
            <a:r>
              <a:rPr lang="en-US" sz="2199" spc="3">
                <a:solidFill>
                  <a:srgbClr val="000000"/>
                </a:solidFill>
                <a:latin typeface="Arial"/>
                <a:ea typeface="Arial"/>
                <a:cs typeface="Arial"/>
                <a:sym typeface="Arial"/>
              </a:rPr>
              <a:t>Converts pollution levels into understandable public health guidance.</a:t>
            </a:r>
          </a:p>
          <a:p>
            <a:pPr algn="just">
              <a:lnSpc>
                <a:spcPts val="4399"/>
              </a:lnSpc>
            </a:pPr>
            <a:r>
              <a:rPr lang="en-US" b="true" sz="2199" spc="3">
                <a:solidFill>
                  <a:srgbClr val="000000"/>
                </a:solidFill>
                <a:latin typeface="Arial Bold"/>
                <a:ea typeface="Arial Bold"/>
                <a:cs typeface="Arial Bold"/>
                <a:sym typeface="Arial Bold"/>
              </a:rPr>
              <a:t>Regulatory Monitoring –</a:t>
            </a:r>
            <a:r>
              <a:rPr lang="en-US" sz="2199" spc="3">
                <a:solidFill>
                  <a:srgbClr val="000000"/>
                </a:solidFill>
                <a:latin typeface="Arial"/>
                <a:ea typeface="Arial"/>
                <a:cs typeface="Arial"/>
                <a:sym typeface="Arial"/>
              </a:rPr>
              <a:t> Compares pollutant readings with applicable environmental limits.</a:t>
            </a:r>
          </a:p>
          <a:p>
            <a:pPr algn="just">
              <a:lnSpc>
                <a:spcPts val="4399"/>
              </a:lnSpc>
            </a:pPr>
            <a:r>
              <a:rPr lang="en-US" b="true" sz="2199" spc="3">
                <a:solidFill>
                  <a:srgbClr val="000000"/>
                </a:solidFill>
                <a:latin typeface="Arial Bold"/>
                <a:ea typeface="Arial Bold"/>
                <a:cs typeface="Arial Bold"/>
                <a:sym typeface="Arial Bold"/>
              </a:rPr>
              <a:t>Real-Time Alerts – </a:t>
            </a:r>
            <a:r>
              <a:rPr lang="en-US" sz="2199" spc="3">
                <a:solidFill>
                  <a:srgbClr val="000000"/>
                </a:solidFill>
                <a:latin typeface="Arial"/>
                <a:ea typeface="Arial"/>
                <a:cs typeface="Arial"/>
                <a:sym typeface="Arial"/>
              </a:rPr>
              <a:t>Highlights critical pollution events for faster response.</a:t>
            </a:r>
          </a:p>
          <a:p>
            <a:pPr algn="just">
              <a:lnSpc>
                <a:spcPts val="4399"/>
              </a:lnSpc>
            </a:pPr>
            <a:r>
              <a:rPr lang="en-US" b="true" sz="2199" spc="3">
                <a:solidFill>
                  <a:srgbClr val="000000"/>
                </a:solidFill>
                <a:latin typeface="Arial Bold"/>
                <a:ea typeface="Arial Bold"/>
                <a:cs typeface="Arial Bold"/>
                <a:sym typeface="Arial Bold"/>
              </a:rPr>
              <a:t>Action-Oriented System –</a:t>
            </a:r>
            <a:r>
              <a:rPr lang="en-US" sz="2199" spc="3">
                <a:solidFill>
                  <a:srgbClr val="000000"/>
                </a:solidFill>
                <a:latin typeface="Arial"/>
                <a:ea typeface="Arial"/>
                <a:cs typeface="Arial"/>
                <a:sym typeface="Arial"/>
              </a:rPr>
              <a:t> Goes beyond displaying data by helping users understand what happened, why it matters, and what action can be taken.</a:t>
            </a:r>
          </a:p>
          <a:p>
            <a:pPr algn="just">
              <a:lnSpc>
                <a:spcPts val="4399"/>
              </a:lnSpc>
            </a:pPr>
            <a:r>
              <a:rPr lang="en-US" b="true" sz="2199" spc="3">
                <a:solidFill>
                  <a:srgbClr val="000000"/>
                </a:solidFill>
                <a:latin typeface="Arial Bold"/>
                <a:ea typeface="Arial Bold"/>
                <a:cs typeface="Arial Bold"/>
                <a:sym typeface="Arial Bold"/>
              </a:rPr>
              <a:t>EcoGuardAI: </a:t>
            </a:r>
            <a:r>
              <a:rPr lang="en-US" sz="2199" spc="3">
                <a:solidFill>
                  <a:srgbClr val="000000"/>
                </a:solidFill>
                <a:latin typeface="Arial"/>
                <a:ea typeface="Arial"/>
                <a:cs typeface="Arial"/>
                <a:sym typeface="Arial"/>
              </a:rPr>
              <a:t>Monitor → Detect → Analyze → Assess → Alert → Recommend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298402" y="1473128"/>
            <a:ext cx="7767379" cy="6511574"/>
          </a:xfrm>
          <a:prstGeom prst="rect">
            <a:avLst/>
          </a:prstGeom>
        </p:spPr>
        <p:txBody>
          <a:bodyPr anchor="t" rtlCol="false" tIns="0" lIns="0" bIns="0" rIns="0">
            <a:spAutoFit/>
          </a:bodyPr>
          <a:lstStyle/>
          <a:p>
            <a:pPr algn="just">
              <a:lnSpc>
                <a:spcPts val="3491"/>
              </a:lnSpc>
              <a:spcBef>
                <a:spcPct val="0"/>
              </a:spcBef>
            </a:pPr>
            <a:r>
              <a:rPr lang="en-US" b="true" sz="2909">
                <a:solidFill>
                  <a:srgbClr val="000000"/>
                </a:solidFill>
                <a:latin typeface="Arial Bold"/>
                <a:ea typeface="Arial Bold"/>
                <a:cs typeface="Arial Bold"/>
                <a:sym typeface="Arial Bold"/>
              </a:rPr>
              <a:t>GitHub </a:t>
            </a:r>
          </a:p>
          <a:p>
            <a:pPr algn="just">
              <a:lnSpc>
                <a:spcPts val="3200"/>
              </a:lnSpc>
              <a:spcBef>
                <a:spcPct val="0"/>
              </a:spcBef>
            </a:pPr>
          </a:p>
          <a:p>
            <a:pPr algn="just">
              <a:lnSpc>
                <a:spcPts val="3200"/>
              </a:lnSpc>
              <a:spcBef>
                <a:spcPct val="0"/>
              </a:spcBef>
            </a:pPr>
            <a:r>
              <a:rPr lang="en-US" b="true" sz="2667">
                <a:solidFill>
                  <a:srgbClr val="000000"/>
                </a:solidFill>
                <a:latin typeface="Arial Bold"/>
                <a:ea typeface="Arial Bold"/>
                <a:cs typeface="Arial Bold"/>
                <a:sym typeface="Arial Bold"/>
              </a:rPr>
              <a:t>Repository: </a:t>
            </a:r>
            <a:r>
              <a:rPr lang="en-US" b="true" sz="2667">
                <a:solidFill>
                  <a:srgbClr val="7ED957"/>
                </a:solidFill>
                <a:latin typeface="Arial Bold"/>
                <a:ea typeface="Arial Bold"/>
                <a:cs typeface="Arial Bold"/>
                <a:sym typeface="Arial Bold"/>
              </a:rPr>
              <a:t>EcoGaurdMONITOR</a:t>
            </a:r>
          </a:p>
          <a:p>
            <a:pPr algn="just">
              <a:lnSpc>
                <a:spcPts val="3200"/>
              </a:lnSpc>
              <a:spcBef>
                <a:spcPct val="0"/>
              </a:spcBef>
            </a:pPr>
          </a:p>
          <a:p>
            <a:pPr algn="just">
              <a:lnSpc>
                <a:spcPts val="3200"/>
              </a:lnSpc>
              <a:spcBef>
                <a:spcPct val="0"/>
              </a:spcBef>
            </a:pPr>
            <a:r>
              <a:rPr lang="en-US" b="true" sz="2667">
                <a:solidFill>
                  <a:srgbClr val="000000"/>
                </a:solidFill>
                <a:latin typeface="Arial Bold"/>
                <a:ea typeface="Arial Bold"/>
                <a:cs typeface="Arial Bold"/>
                <a:sym typeface="Arial Bold"/>
              </a:rPr>
              <a:t>Working GitHub URL:</a:t>
            </a:r>
          </a:p>
          <a:p>
            <a:pPr algn="just">
              <a:lnSpc>
                <a:spcPts val="3200"/>
              </a:lnSpc>
              <a:spcBef>
                <a:spcPct val="0"/>
              </a:spcBef>
            </a:pPr>
            <a:r>
              <a:rPr lang="en-US" sz="2667" u="sng">
                <a:solidFill>
                  <a:srgbClr val="000000"/>
                </a:solidFill>
                <a:latin typeface="Arial"/>
                <a:ea typeface="Arial"/>
                <a:cs typeface="Arial"/>
                <a:sym typeface="Arial"/>
                <a:hlinkClick r:id="rId2" tooltip="https://github.com/iamkk369/EcoGaurdMONITOR"/>
              </a:rPr>
              <a:t>https://github.com/iamkk369/EcoGaurdMONITOR</a:t>
            </a:r>
          </a:p>
          <a:p>
            <a:pPr algn="just">
              <a:lnSpc>
                <a:spcPts val="3200"/>
              </a:lnSpc>
              <a:spcBef>
                <a:spcPct val="0"/>
              </a:spcBef>
            </a:pPr>
          </a:p>
          <a:p>
            <a:pPr algn="just">
              <a:lnSpc>
                <a:spcPts val="3200"/>
              </a:lnSpc>
              <a:spcBef>
                <a:spcPct val="0"/>
              </a:spcBef>
            </a:pPr>
            <a:r>
              <a:rPr lang="en-US" b="true" sz="2667">
                <a:solidFill>
                  <a:srgbClr val="000000"/>
                </a:solidFill>
                <a:latin typeface="Arial Bold"/>
                <a:ea typeface="Arial Bold"/>
                <a:cs typeface="Arial Bold"/>
                <a:sym typeface="Arial Bold"/>
              </a:rPr>
              <a:t>Required Submission Files:</a:t>
            </a:r>
          </a:p>
          <a:p>
            <a:pPr algn="just">
              <a:lnSpc>
                <a:spcPts val="3200"/>
              </a:lnSpc>
              <a:spcBef>
                <a:spcPct val="0"/>
              </a:spcBef>
            </a:pPr>
          </a:p>
          <a:p>
            <a:pPr algn="just">
              <a:lnSpc>
                <a:spcPts val="3200"/>
              </a:lnSpc>
              <a:spcBef>
                <a:spcPct val="0"/>
              </a:spcBef>
            </a:pPr>
            <a:r>
              <a:rPr lang="en-US" sz="2667">
                <a:solidFill>
                  <a:srgbClr val="000000"/>
                </a:solidFill>
                <a:latin typeface="Arial"/>
                <a:ea typeface="Arial"/>
                <a:cs typeface="Arial"/>
                <a:sym typeface="Arial"/>
              </a:rPr>
              <a:t>• app.json</a:t>
            </a:r>
          </a:p>
          <a:p>
            <a:pPr algn="just">
              <a:lnSpc>
                <a:spcPts val="3200"/>
              </a:lnSpc>
              <a:spcBef>
                <a:spcPct val="0"/>
              </a:spcBef>
            </a:pPr>
            <a:r>
              <a:rPr lang="en-US" sz="2667">
                <a:solidFill>
                  <a:srgbClr val="000000"/>
                </a:solidFill>
                <a:latin typeface="Arial"/>
                <a:ea typeface="Arial"/>
                <a:cs typeface="Arial"/>
                <a:sym typeface="Arial"/>
              </a:rPr>
              <a:t>• Problem Statement PDF</a:t>
            </a:r>
          </a:p>
          <a:p>
            <a:pPr algn="just">
              <a:lnSpc>
                <a:spcPts val="3200"/>
              </a:lnSpc>
              <a:spcBef>
                <a:spcPct val="0"/>
              </a:spcBef>
            </a:pPr>
            <a:r>
              <a:rPr lang="en-US" sz="2667">
                <a:solidFill>
                  <a:srgbClr val="000000"/>
                </a:solidFill>
                <a:latin typeface="Arial"/>
                <a:ea typeface="Arial"/>
                <a:cs typeface="Arial"/>
                <a:sym typeface="Arial"/>
              </a:rPr>
              <a:t>• Project Presentation PPTX</a:t>
            </a:r>
          </a:p>
          <a:p>
            <a:pPr algn="just">
              <a:lnSpc>
                <a:spcPts val="3200"/>
              </a:lnSpc>
              <a:spcBef>
                <a:spcPct val="0"/>
              </a:spcBef>
            </a:pPr>
            <a:r>
              <a:rPr lang="en-US" sz="2667">
                <a:solidFill>
                  <a:srgbClr val="000000"/>
                </a:solidFill>
                <a:latin typeface="Arial"/>
                <a:ea typeface="Arial"/>
                <a:cs typeface="Arial"/>
                <a:sym typeface="Arial"/>
              </a:rPr>
              <a:t>• Complete project source code &amp; documentation</a:t>
            </a:r>
          </a:p>
          <a:p>
            <a:pPr algn="just">
              <a:lnSpc>
                <a:spcPts val="3200"/>
              </a:lnSpc>
              <a:spcBef>
                <a:spcPct val="0"/>
              </a:spcBef>
            </a:pPr>
          </a:p>
          <a:p>
            <a:pPr algn="just">
              <a:lnSpc>
                <a:spcPts val="3200"/>
              </a:lnSpc>
              <a:spcBef>
                <a:spcPct val="0"/>
              </a:spcBef>
            </a:pPr>
            <a:r>
              <a:rPr lang="en-US" b="true" sz="2667">
                <a:solidFill>
                  <a:srgbClr val="000000"/>
                </a:solidFill>
                <a:latin typeface="Arial Bold"/>
                <a:ea typeface="Arial Bold"/>
                <a:cs typeface="Arial Bold"/>
                <a:sym typeface="Arial Bold"/>
              </a:rPr>
              <a:t>Repository: </a:t>
            </a:r>
            <a:r>
              <a:rPr lang="en-US" sz="2667">
                <a:solidFill>
                  <a:srgbClr val="000000"/>
                </a:solidFill>
                <a:latin typeface="Arial"/>
                <a:ea typeface="Arial"/>
                <a:cs typeface="Arial"/>
                <a:sym typeface="Arial"/>
              </a:rPr>
              <a:t>Public • Source Code • Documentation</a:t>
            </a:r>
          </a:p>
          <a:p>
            <a:pPr algn="just">
              <a:lnSpc>
                <a:spcPts val="3200"/>
              </a:lnSpc>
              <a:spcBef>
                <a:spcPct val="0"/>
              </a:spcBef>
            </a:pPr>
            <a:r>
              <a:rPr lang="en-US" sz="2667">
                <a:solidFill>
                  <a:srgbClr val="000000"/>
                </a:solidFill>
                <a:latin typeface="Arial"/>
                <a:ea typeface="Arial"/>
                <a:cs typeface="Arial"/>
                <a:sym typeface="Arial"/>
              </a:rPr>
              <a:t>                    • Submission Materials</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27968" y="45818"/>
            <a:ext cx="9666742" cy="1313202"/>
          </a:xfrm>
          <a:prstGeom prst="rect">
            <a:avLst/>
          </a:prstGeom>
        </p:spPr>
        <p:txBody>
          <a:bodyPr anchor="t" rtlCol="false" tIns="0" lIns="0" bIns="0" rIns="0">
            <a:spAutoFit/>
          </a:bodyPr>
          <a:lstStyle/>
          <a:p>
            <a:pPr algn="l">
              <a:lnSpc>
                <a:spcPts val="6788"/>
              </a:lnSpc>
            </a:pPr>
            <a:r>
              <a:rPr lang="en-US" b="true" sz="3600">
                <a:solidFill>
                  <a:srgbClr val="000000"/>
                </a:solidFill>
                <a:latin typeface="Arial Bold"/>
                <a:ea typeface="Arial Bold"/>
                <a:cs typeface="Arial Bold"/>
                <a:sym typeface="Arial Bold"/>
              </a:rPr>
              <a:t>Future Scope </a:t>
            </a:r>
          </a:p>
        </p:txBody>
      </p:sp>
      <p:sp>
        <p:nvSpPr>
          <p:cNvPr name="TextBox 3" id="3"/>
          <p:cNvSpPr txBox="true"/>
          <p:nvPr/>
        </p:nvSpPr>
        <p:spPr>
          <a:xfrm rot="0">
            <a:off x="1828086" y="6383645"/>
            <a:ext cx="11202829" cy="1358617"/>
          </a:xfrm>
          <a:prstGeom prst="rect">
            <a:avLst/>
          </a:prstGeom>
        </p:spPr>
        <p:txBody>
          <a:bodyPr anchor="t" rtlCol="false" tIns="0" lIns="0" bIns="0" rIns="0">
            <a:spAutoFit/>
          </a:bodyPr>
          <a:lstStyle/>
          <a:p>
            <a:pPr algn="l">
              <a:lnSpc>
                <a:spcPts val="5399"/>
              </a:lnSpc>
            </a:pPr>
            <a:r>
              <a:rPr lang="en-US" sz="2775">
                <a:solidFill>
                  <a:srgbClr val="2B3541"/>
                </a:solidFill>
                <a:latin typeface="Times New Roman"/>
                <a:ea typeface="Times New Roman"/>
                <a:cs typeface="Times New Roman"/>
                <a:sym typeface="Times New Roman"/>
              </a:rPr>
              <a:t>·</a:t>
            </a:r>
          </a:p>
        </p:txBody>
      </p:sp>
      <p:sp>
        <p:nvSpPr>
          <p:cNvPr name="TextBox 4" id="4"/>
          <p:cNvSpPr txBox="true"/>
          <p:nvPr/>
        </p:nvSpPr>
        <p:spPr>
          <a:xfrm rot="0">
            <a:off x="515665" y="1021428"/>
            <a:ext cx="17772335" cy="8796655"/>
          </a:xfrm>
          <a:prstGeom prst="rect">
            <a:avLst/>
          </a:prstGeom>
        </p:spPr>
        <p:txBody>
          <a:bodyPr anchor="t" rtlCol="false" tIns="0" lIns="0" bIns="0" rIns="0">
            <a:spAutoFit/>
          </a:bodyPr>
          <a:lstStyle/>
          <a:p>
            <a:pPr algn="just">
              <a:lnSpc>
                <a:spcPts val="4399"/>
              </a:lnSpc>
            </a:pPr>
            <a:r>
              <a:rPr lang="en-US" b="true" sz="2199" spc="3">
                <a:solidFill>
                  <a:srgbClr val="000000"/>
                </a:solidFill>
                <a:latin typeface="Arial Bold"/>
                <a:ea typeface="Arial Bold"/>
                <a:cs typeface="Arial Bold"/>
                <a:sym typeface="Arial Bold"/>
              </a:rPr>
              <a:t>Real IoT Sensor Integration </a:t>
            </a:r>
            <a:r>
              <a:rPr lang="en-US" sz="2199" spc="3">
                <a:solidFill>
                  <a:srgbClr val="000000"/>
                </a:solidFill>
                <a:latin typeface="Arial"/>
                <a:ea typeface="Arial"/>
                <a:cs typeface="Arial"/>
                <a:sym typeface="Arial"/>
              </a:rPr>
              <a:t>— Connect real industrial air and water quality sensors for continuous, station-level pollution monitoring and reliable field data collection.</a:t>
            </a:r>
          </a:p>
          <a:p>
            <a:pPr algn="just">
              <a:lnSpc>
                <a:spcPts val="4399"/>
              </a:lnSpc>
            </a:pPr>
            <a:r>
              <a:rPr lang="en-US" b="true" sz="2199" spc="3">
                <a:solidFill>
                  <a:srgbClr val="000000"/>
                </a:solidFill>
                <a:latin typeface="Arial Bold"/>
                <a:ea typeface="Arial Bold"/>
                <a:cs typeface="Arial Bold"/>
                <a:sym typeface="Arial Bold"/>
              </a:rPr>
              <a:t>Historical &amp; Predictive Analytics —</a:t>
            </a:r>
            <a:r>
              <a:rPr lang="en-US" sz="2199" spc="3">
                <a:solidFill>
                  <a:srgbClr val="000000"/>
                </a:solidFill>
                <a:latin typeface="Arial"/>
                <a:ea typeface="Arial"/>
                <a:cs typeface="Arial"/>
                <a:sym typeface="Arial"/>
              </a:rPr>
              <a:t> Store long-term environmental data to identify pollution trends, recurring violations, and potential future risk conditions.</a:t>
            </a:r>
          </a:p>
          <a:p>
            <a:pPr algn="just">
              <a:lnSpc>
                <a:spcPts val="4399"/>
              </a:lnSpc>
            </a:pPr>
            <a:r>
              <a:rPr lang="en-US" b="true" sz="2199" spc="3">
                <a:solidFill>
                  <a:srgbClr val="000000"/>
                </a:solidFill>
                <a:latin typeface="Arial Bold"/>
                <a:ea typeface="Arial Bold"/>
                <a:cs typeface="Arial Bold"/>
                <a:sym typeface="Arial Bold"/>
              </a:rPr>
              <a:t>Advanced IBM Granite AI </a:t>
            </a:r>
            <a:r>
              <a:rPr lang="en-US" sz="2199" spc="3">
                <a:solidFill>
                  <a:srgbClr val="000000"/>
                </a:solidFill>
                <a:latin typeface="Arial"/>
                <a:ea typeface="Arial"/>
                <a:cs typeface="Arial"/>
                <a:sym typeface="Arial"/>
              </a:rPr>
              <a:t>— Expand IBM Granite with watsonx.ai to generate deeper environmental analysis, violation reports, and context-aware recommendations.</a:t>
            </a:r>
          </a:p>
          <a:p>
            <a:pPr algn="just">
              <a:lnSpc>
                <a:spcPts val="4399"/>
              </a:lnSpc>
            </a:pPr>
            <a:r>
              <a:rPr lang="en-US" b="true" sz="2199" spc="3">
                <a:solidFill>
                  <a:srgbClr val="000000"/>
                </a:solidFill>
                <a:latin typeface="Arial Bold"/>
                <a:ea typeface="Arial Bold"/>
                <a:cs typeface="Arial Bold"/>
                <a:sym typeface="Arial Bold"/>
              </a:rPr>
              <a:t>RAG-Based Environmental Knowledge</a:t>
            </a:r>
            <a:r>
              <a:rPr lang="en-US" sz="2199" spc="3">
                <a:solidFill>
                  <a:srgbClr val="000000"/>
                </a:solidFill>
                <a:latin typeface="Arial"/>
                <a:ea typeface="Arial"/>
                <a:cs typeface="Arial"/>
                <a:sym typeface="Arial"/>
              </a:rPr>
              <a:t> — Integrate verified CPCB/GPCB regulations, pollution standards, and environmental guidelines to provide more accurate and explainable AI insights.</a:t>
            </a:r>
          </a:p>
          <a:p>
            <a:pPr algn="just">
              <a:lnSpc>
                <a:spcPts val="4399"/>
              </a:lnSpc>
            </a:pPr>
            <a:r>
              <a:rPr lang="en-US" b="true" sz="2199" spc="3">
                <a:solidFill>
                  <a:srgbClr val="000000"/>
                </a:solidFill>
                <a:latin typeface="Arial Bold"/>
                <a:ea typeface="Arial Bold"/>
                <a:cs typeface="Arial Bold"/>
                <a:sym typeface="Arial Bold"/>
              </a:rPr>
              <a:t>Langflow Agent Orchestration </a:t>
            </a:r>
            <a:r>
              <a:rPr lang="en-US" sz="2199" spc="3">
                <a:solidFill>
                  <a:srgbClr val="000000"/>
                </a:solidFill>
                <a:latin typeface="Arial"/>
                <a:ea typeface="Arial"/>
                <a:cs typeface="Arial"/>
                <a:sym typeface="Arial"/>
              </a:rPr>
              <a:t>— Implement visual workflows to coordinate monitoring, violation detection, regulatory alerts, health-risk assessment, and AI agents.</a:t>
            </a:r>
          </a:p>
          <a:p>
            <a:pPr algn="just">
              <a:lnSpc>
                <a:spcPts val="4399"/>
              </a:lnSpc>
            </a:pPr>
            <a:r>
              <a:rPr lang="en-US" b="true" sz="2199" spc="3">
                <a:solidFill>
                  <a:srgbClr val="000000"/>
                </a:solidFill>
                <a:latin typeface="Arial Bold"/>
                <a:ea typeface="Arial Bold"/>
                <a:cs typeface="Arial Bold"/>
                <a:sym typeface="Arial Bold"/>
              </a:rPr>
              <a:t>Automated Regulatory Alerts </a:t>
            </a:r>
            <a:r>
              <a:rPr lang="en-US" sz="2199" spc="3">
                <a:solidFill>
                  <a:srgbClr val="000000"/>
                </a:solidFill>
                <a:latin typeface="Arial"/>
                <a:ea typeface="Arial"/>
                <a:cs typeface="Arial"/>
                <a:sym typeface="Arial"/>
              </a:rPr>
              <a:t>— Extend the alert system with secure email, SMS, WhatsApp, or official notification channels for high and critical violations.</a:t>
            </a:r>
          </a:p>
          <a:p>
            <a:pPr algn="just">
              <a:lnSpc>
                <a:spcPts val="4399"/>
              </a:lnSpc>
            </a:pPr>
            <a:r>
              <a:rPr lang="en-US" b="true" sz="2199" spc="3">
                <a:solidFill>
                  <a:srgbClr val="000000"/>
                </a:solidFill>
                <a:latin typeface="Arial Bold"/>
                <a:ea typeface="Arial Bold"/>
                <a:cs typeface="Arial Bold"/>
                <a:sym typeface="Arial Bold"/>
              </a:rPr>
              <a:t>IBM Cloud Deployment &amp; Scalability </a:t>
            </a:r>
            <a:r>
              <a:rPr lang="en-US" sz="2199" spc="3">
                <a:solidFill>
                  <a:srgbClr val="000000"/>
                </a:solidFill>
                <a:latin typeface="Arial"/>
                <a:ea typeface="Arial"/>
                <a:cs typeface="Arial"/>
                <a:sym typeface="Arial"/>
              </a:rPr>
              <a:t>— Deploy the platform on IBM Cloud with scalable infrastructure, secure data management, and reliable real-time monitoring.</a:t>
            </a:r>
          </a:p>
          <a:p>
            <a:pPr algn="just">
              <a:lnSpc>
                <a:spcPts val="4399"/>
              </a:lnSpc>
            </a:pPr>
            <a:r>
              <a:rPr lang="en-US" b="true" sz="2199" spc="3">
                <a:solidFill>
                  <a:srgbClr val="000000"/>
                </a:solidFill>
                <a:latin typeface="Arial Bold"/>
                <a:ea typeface="Arial Bold"/>
                <a:cs typeface="Arial Bold"/>
                <a:sym typeface="Arial Bold"/>
              </a:rPr>
              <a:t>Multi-Region Environmental Monitoring </a:t>
            </a:r>
            <a:r>
              <a:rPr lang="en-US" sz="2199" spc="3">
                <a:solidFill>
                  <a:srgbClr val="000000"/>
                </a:solidFill>
                <a:latin typeface="Arial"/>
                <a:ea typeface="Arial"/>
                <a:cs typeface="Arial"/>
                <a:sym typeface="Arial"/>
              </a:rPr>
              <a:t>— Expand EcoGaurdMONITOR beyond the initial Gujarat industrial areas to other industrial regions and support larger environmental monitoring networks.</a:t>
            </a:r>
          </a:p>
        </p:txBody>
      </p:sp>
    </p:spTree>
  </p:cSld>
  <p:clrMapOvr>
    <a:masterClrMapping/>
  </p:clrMapOvr>
  <p:transition spd="slow">
    <p:push dir="d"/>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1907" y="2250549"/>
            <a:ext cx="6242996" cy="4684757"/>
            <a:chOff x="0" y="0"/>
            <a:chExt cx="14150442" cy="10618521"/>
          </a:xfrm>
        </p:grpSpPr>
        <p:sp>
          <p:nvSpPr>
            <p:cNvPr name="Freeform 3" id="3"/>
            <p:cNvSpPr/>
            <p:nvPr/>
          </p:nvSpPr>
          <p:spPr>
            <a:xfrm flipH="false" flipV="false" rot="0">
              <a:off x="0" y="0"/>
              <a:ext cx="14150467" cy="10618470"/>
            </a:xfrm>
            <a:custGeom>
              <a:avLst/>
              <a:gdLst/>
              <a:ahLst/>
              <a:cxnLst/>
              <a:rect r="r" b="b" t="t" l="l"/>
              <a:pathLst>
                <a:path h="10618470" w="14150467">
                  <a:moveTo>
                    <a:pt x="0" y="0"/>
                  </a:moveTo>
                  <a:lnTo>
                    <a:pt x="14150467" y="0"/>
                  </a:lnTo>
                  <a:lnTo>
                    <a:pt x="14150467" y="10618470"/>
                  </a:lnTo>
                  <a:lnTo>
                    <a:pt x="0" y="10618470"/>
                  </a:lnTo>
                  <a:lnTo>
                    <a:pt x="0" y="0"/>
                  </a:lnTo>
                  <a:close/>
                </a:path>
              </a:pathLst>
            </a:custGeom>
            <a:blipFill>
              <a:blip r:embed="rId2"/>
              <a:stretch>
                <a:fillRect l="-850" t="0" r="-850" b="0"/>
              </a:stretch>
            </a:blipFill>
          </p:spPr>
        </p:sp>
      </p:grpSp>
      <p:sp>
        <p:nvSpPr>
          <p:cNvPr name="Freeform 4" id="4"/>
          <p:cNvSpPr/>
          <p:nvPr/>
        </p:nvSpPr>
        <p:spPr>
          <a:xfrm flipH="false" flipV="false" rot="0">
            <a:off x="8673794" y="2250549"/>
            <a:ext cx="6237599" cy="4684757"/>
          </a:xfrm>
          <a:custGeom>
            <a:avLst/>
            <a:gdLst/>
            <a:ahLst/>
            <a:cxnLst/>
            <a:rect r="r" b="b" t="t" l="l"/>
            <a:pathLst>
              <a:path h="4684757" w="6237599">
                <a:moveTo>
                  <a:pt x="0" y="0"/>
                </a:moveTo>
                <a:lnTo>
                  <a:pt x="6237599" y="0"/>
                </a:lnTo>
                <a:lnTo>
                  <a:pt x="6237599" y="4684757"/>
                </a:lnTo>
                <a:lnTo>
                  <a:pt x="0" y="4684757"/>
                </a:lnTo>
                <a:lnTo>
                  <a:pt x="0" y="0"/>
                </a:lnTo>
                <a:close/>
              </a:path>
            </a:pathLst>
          </a:custGeom>
          <a:blipFill>
            <a:blip r:embed="rId3"/>
            <a:stretch>
              <a:fillRect l="0" t="0" r="0" b="0"/>
            </a:stretch>
          </a:blipFill>
        </p:spPr>
      </p:sp>
      <p:sp>
        <p:nvSpPr>
          <p:cNvPr name="TextBox 5" id="5"/>
          <p:cNvSpPr txBox="true"/>
          <p:nvPr/>
        </p:nvSpPr>
        <p:spPr>
          <a:xfrm rot="0">
            <a:off x="660569" y="289612"/>
            <a:ext cx="8961120" cy="952795"/>
          </a:xfrm>
          <a:prstGeom prst="rect">
            <a:avLst/>
          </a:prstGeom>
        </p:spPr>
        <p:txBody>
          <a:bodyPr anchor="t" rtlCol="false" tIns="0" lIns="0" bIns="0" rIns="0">
            <a:spAutoFit/>
          </a:bodyPr>
          <a:lstStyle/>
          <a:p>
            <a:pPr algn="l">
              <a:lnSpc>
                <a:spcPts val="4320"/>
              </a:lnSpc>
            </a:pPr>
            <a:r>
              <a:rPr lang="en-US" b="true" sz="3600">
                <a:solidFill>
                  <a:srgbClr val="000000"/>
                </a:solidFill>
                <a:latin typeface="Arial Bold"/>
                <a:ea typeface="Arial Bold"/>
                <a:cs typeface="Arial Bold"/>
                <a:sym typeface="Arial Bold"/>
              </a:rPr>
              <a:t>Certificates Earned:</a:t>
            </a:r>
          </a:p>
          <a:p>
            <a:pPr algn="ctr">
              <a:lnSpc>
                <a:spcPts val="4320"/>
              </a:lnSpc>
            </a:pP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14762" y="1220289"/>
            <a:ext cx="6044561" cy="3923211"/>
            <a:chOff x="0" y="0"/>
            <a:chExt cx="14355102" cy="9317152"/>
          </a:xfrm>
        </p:grpSpPr>
        <p:sp>
          <p:nvSpPr>
            <p:cNvPr name="Freeform 3" id="3"/>
            <p:cNvSpPr/>
            <p:nvPr/>
          </p:nvSpPr>
          <p:spPr>
            <a:xfrm flipH="false" flipV="false" rot="0">
              <a:off x="0" y="0"/>
              <a:ext cx="14355063" cy="9317101"/>
            </a:xfrm>
            <a:custGeom>
              <a:avLst/>
              <a:gdLst/>
              <a:ahLst/>
              <a:cxnLst/>
              <a:rect r="r" b="b" t="t" l="l"/>
              <a:pathLst>
                <a:path h="9317101" w="14355063">
                  <a:moveTo>
                    <a:pt x="0" y="0"/>
                  </a:moveTo>
                  <a:lnTo>
                    <a:pt x="14355063" y="0"/>
                  </a:lnTo>
                  <a:lnTo>
                    <a:pt x="14355063" y="9317101"/>
                  </a:lnTo>
                  <a:lnTo>
                    <a:pt x="0" y="9317101"/>
                  </a:lnTo>
                  <a:lnTo>
                    <a:pt x="0" y="0"/>
                  </a:lnTo>
                  <a:close/>
                </a:path>
              </a:pathLst>
            </a:custGeom>
            <a:blipFill>
              <a:blip r:embed="rId2"/>
              <a:stretch>
                <a:fillRect l="-2922" t="0" r="-2922" b="0"/>
              </a:stretch>
            </a:blipFill>
          </p:spPr>
        </p:sp>
      </p:grpSp>
      <p:sp>
        <p:nvSpPr>
          <p:cNvPr name="Freeform 4" id="4"/>
          <p:cNvSpPr/>
          <p:nvPr/>
        </p:nvSpPr>
        <p:spPr>
          <a:xfrm flipH="false" flipV="false" rot="0">
            <a:off x="9144000" y="1220289"/>
            <a:ext cx="5981159" cy="3695612"/>
          </a:xfrm>
          <a:custGeom>
            <a:avLst/>
            <a:gdLst/>
            <a:ahLst/>
            <a:cxnLst/>
            <a:rect r="r" b="b" t="t" l="l"/>
            <a:pathLst>
              <a:path h="3695612" w="5981159">
                <a:moveTo>
                  <a:pt x="0" y="0"/>
                </a:moveTo>
                <a:lnTo>
                  <a:pt x="5981159" y="0"/>
                </a:lnTo>
                <a:lnTo>
                  <a:pt x="5981159" y="3695612"/>
                </a:lnTo>
                <a:lnTo>
                  <a:pt x="0" y="3695612"/>
                </a:lnTo>
                <a:lnTo>
                  <a:pt x="0" y="0"/>
                </a:lnTo>
                <a:close/>
              </a:path>
            </a:pathLst>
          </a:custGeom>
          <a:blipFill>
            <a:blip r:embed="rId3"/>
            <a:stretch>
              <a:fillRect l="0" t="-5612" r="-5719" b="-25456"/>
            </a:stretch>
          </a:blipFill>
        </p:spPr>
      </p:sp>
      <p:sp>
        <p:nvSpPr>
          <p:cNvPr name="Freeform 5" id="5"/>
          <p:cNvSpPr/>
          <p:nvPr/>
        </p:nvSpPr>
        <p:spPr>
          <a:xfrm flipH="false" flipV="false" rot="0">
            <a:off x="9144000" y="5426446"/>
            <a:ext cx="6210590" cy="3831854"/>
          </a:xfrm>
          <a:custGeom>
            <a:avLst/>
            <a:gdLst/>
            <a:ahLst/>
            <a:cxnLst/>
            <a:rect r="r" b="b" t="t" l="l"/>
            <a:pathLst>
              <a:path h="3831854" w="6210590">
                <a:moveTo>
                  <a:pt x="0" y="0"/>
                </a:moveTo>
                <a:lnTo>
                  <a:pt x="6210590" y="0"/>
                </a:lnTo>
                <a:lnTo>
                  <a:pt x="6210590" y="3831854"/>
                </a:lnTo>
                <a:lnTo>
                  <a:pt x="0" y="3831854"/>
                </a:lnTo>
                <a:lnTo>
                  <a:pt x="0" y="0"/>
                </a:lnTo>
                <a:close/>
              </a:path>
            </a:pathLst>
          </a:custGeom>
          <a:blipFill>
            <a:blip r:embed="rId4"/>
            <a:stretch>
              <a:fillRect l="0" t="0" r="0" b="0"/>
            </a:stretch>
          </a:blipFill>
        </p:spPr>
      </p:sp>
      <p:sp>
        <p:nvSpPr>
          <p:cNvPr name="Freeform 6" id="6"/>
          <p:cNvSpPr/>
          <p:nvPr/>
        </p:nvSpPr>
        <p:spPr>
          <a:xfrm flipH="false" flipV="false" rot="0">
            <a:off x="1738260" y="5426446"/>
            <a:ext cx="6197565" cy="3831854"/>
          </a:xfrm>
          <a:custGeom>
            <a:avLst/>
            <a:gdLst/>
            <a:ahLst/>
            <a:cxnLst/>
            <a:rect r="r" b="b" t="t" l="l"/>
            <a:pathLst>
              <a:path h="3831854" w="6197565">
                <a:moveTo>
                  <a:pt x="0" y="0"/>
                </a:moveTo>
                <a:lnTo>
                  <a:pt x="6197565" y="0"/>
                </a:lnTo>
                <a:lnTo>
                  <a:pt x="6197565" y="3831854"/>
                </a:lnTo>
                <a:lnTo>
                  <a:pt x="0" y="3831854"/>
                </a:lnTo>
                <a:lnTo>
                  <a:pt x="0" y="0"/>
                </a:lnTo>
                <a:close/>
              </a:path>
            </a:pathLst>
          </a:custGeom>
          <a:blipFill>
            <a:blip r:embed="rId5"/>
            <a:stretch>
              <a:fillRect l="0" t="0" r="0" b="0"/>
            </a:stretch>
          </a:blipFill>
        </p:spPr>
      </p:sp>
      <p:sp>
        <p:nvSpPr>
          <p:cNvPr name="TextBox 7" id="7"/>
          <p:cNvSpPr txBox="true"/>
          <p:nvPr/>
        </p:nvSpPr>
        <p:spPr>
          <a:xfrm rot="0">
            <a:off x="356483" y="356730"/>
            <a:ext cx="8961120" cy="952795"/>
          </a:xfrm>
          <a:prstGeom prst="rect">
            <a:avLst/>
          </a:prstGeom>
        </p:spPr>
        <p:txBody>
          <a:bodyPr anchor="t" rtlCol="false" tIns="0" lIns="0" bIns="0" rIns="0">
            <a:spAutoFit/>
          </a:bodyPr>
          <a:lstStyle/>
          <a:p>
            <a:pPr algn="l">
              <a:lnSpc>
                <a:spcPts val="4320"/>
              </a:lnSpc>
            </a:pPr>
            <a:r>
              <a:rPr lang="en-US" b="true" sz="3600">
                <a:solidFill>
                  <a:srgbClr val="000000"/>
                </a:solidFill>
                <a:latin typeface="Arial Bold"/>
                <a:ea typeface="Arial Bold"/>
                <a:cs typeface="Arial Bold"/>
                <a:sym typeface="Arial Bold"/>
              </a:rPr>
              <a:t>Certificates Earned:</a:t>
            </a:r>
            <a:r>
              <a:rPr lang="en-US" sz="3600">
                <a:solidFill>
                  <a:srgbClr val="000000"/>
                </a:solidFill>
                <a:latin typeface="Arial"/>
                <a:ea typeface="Arial"/>
                <a:cs typeface="Arial"/>
                <a:sym typeface="Arial"/>
              </a:rPr>
              <a:t>​</a:t>
            </a:r>
          </a:p>
          <a:p>
            <a:pPr algn="ctr">
              <a:lnSpc>
                <a:spcPts val="432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85449"/>
            <a:ext cx="18288000" cy="3716093"/>
            <a:chOff x="0" y="0"/>
            <a:chExt cx="24384000" cy="4954791"/>
          </a:xfrm>
        </p:grpSpPr>
        <p:sp>
          <p:nvSpPr>
            <p:cNvPr name="Freeform 3" id="3"/>
            <p:cNvSpPr/>
            <p:nvPr/>
          </p:nvSpPr>
          <p:spPr>
            <a:xfrm flipH="false" flipV="false" rot="0">
              <a:off x="0" y="0"/>
              <a:ext cx="24384000" cy="4954778"/>
            </a:xfrm>
            <a:custGeom>
              <a:avLst/>
              <a:gdLst/>
              <a:ahLst/>
              <a:cxnLst/>
              <a:rect r="r" b="b" t="t" l="l"/>
              <a:pathLst>
                <a:path h="4954778" w="24384000">
                  <a:moveTo>
                    <a:pt x="0" y="0"/>
                  </a:moveTo>
                  <a:lnTo>
                    <a:pt x="24384000" y="0"/>
                  </a:lnTo>
                  <a:lnTo>
                    <a:pt x="24384000" y="4954778"/>
                  </a:lnTo>
                  <a:lnTo>
                    <a:pt x="0" y="4954778"/>
                  </a:lnTo>
                  <a:lnTo>
                    <a:pt x="0" y="0"/>
                  </a:lnTo>
                  <a:close/>
                </a:path>
              </a:pathLst>
            </a:custGeom>
            <a:blipFill>
              <a:blip r:embed="rId2"/>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DAHTE32427c</dc:identifier>
  <dcterms:modified xsi:type="dcterms:W3CDTF">2011-08-01T06:04:30Z</dcterms:modified>
  <cp:revision>1</cp:revision>
  <dc:title>EcoGuardAI AI-Powered Environmental Monitoring and Risk Intelligence System</dc:title>
</cp:coreProperties>
</file>